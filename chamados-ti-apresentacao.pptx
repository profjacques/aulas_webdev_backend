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o" id="{b0841242-c9fe-7c86-8032-c7317210856c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Fundamentos" id="{e4f5ecbc-e2b6-f865-9d08-125a986a2d77}">
          <p14:sldIdLst>
            <p14:sldId id="262"/>
            <p14:sldId id="263"/>
            <p14:sldId id="264"/>
          </p14:sldIdLst>
        </p14:section>
        <p14:section name="Estrutura" id="{f1547a12-ef65-1882-59de-7ed29103f585}">
          <p14:sldIdLst>
            <p14:sldId id="265"/>
            <p14:sldId id="266"/>
            <p14:sldId id="267"/>
            <p14:sldId id="268"/>
            <p14:sldId id="269"/>
          </p14:sldIdLst>
        </p14:section>
        <p14:section name="Prática" id="{c78ac2a7-1470-05e0-0d8b-7a393c48c633}">
          <p14:sldIdLst>
            <p14:sldId id="270"/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Objetivo da aula: antes de escrever código, entender o que será construído, com quais ferramentas e como o projeto está organizado. O "MVC" em destaque é o fio condutor: todo arquivo do projeto pertence a uma das três camadas.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os quatro blocos e o tempo aproximado de cada um. Contexto e fundamentos tomam a primeira metade; estrutura e prática, a segunda. Avise que o código completo acompanha esta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Contextualize com uma situação real: o suporte de uma empresa pequena recebendo pedidos por todos os lados. Deixe claro o que fica fora do escopo para a turma não esperar login ou notificações. Esses itens aparecem de novo no slide de evoluções.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Percorra as oito funcionalidades rapidamente; cada uma vira um trecho de código nas aulas seguintes. Destaque duas: o andamento rápido (um formulário pequeno que reaproveita a mesma lógica de salvar) e o histórico automático, que mostra como o model e um service trabalham juntos.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resultado final. Os quatro números no topo respondem em um olhar: o que está ativo, o que é urgente (alta ou crítica), o que ninguém assumiu e o que foi entregue na semana. Abaixo, cada coluna é uma etapa. Se possível, mostre o sistema real rodando ao 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o painel não tem lógica escondida: cada número é uma regra simples sobre os campos status, prioridade, responsavel e resolvidoEm. A contagem de comentários usa uma consulta agrupada (COUNT com GROUP BY) para evitar uma consulta por cartão.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frase por tecnologia. Ponto importante: o Sequelize permite trocar o SQLite por PostgreSQL ou MySQL mudando a configuração e o driver, sem reescrever os models. Escolhemos SQLite para a turma não precisar instalar um servidor de banco. O CSS é puro de propósito: dá para ver cada regra.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 útil: num restaurante, o controller é o garçom (anota o pedido e leva à cozinha), o model é a cozinha (regras e ingredientes) e a view é o prato apresentado. Regra de ouro: a view nunca fala com o banco e o model nunca gera HTML. É isso que torna cada parte testável e substituível.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Percorra os cinco passos com o exemplo de abrir um chamado. Pergunte à turma onde fica cada responsabilidade antes de revelar. O padrão Post/Redirect/Get é um detalhe que costuma passar despercebido: sem o redirect, apertar F5 reenviaria o formulário e criaria um chamado duplicado.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árvore e associe cada pasta a uma letra do MVC. services/ e utils/ não fazem parte do MVC clássico, mas evitam repetir código nos controllers: o service registra o histórico e os utils têm o asyncHandler e os formatadores de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arquivo models/chamado.js ao lado. O campo codigo é VIRTUAL: não existe no banco, é calculado a partir do id sempre que o objeto é lido. Categoria, prioridade e etapa usam isIn para aceitar só valores conhecidos; a lista vem de constants.js, o mesmo arquivo que alimenta os selects dos formulários.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associação é declarada uma vez em models/index.js. O campo tipo permite misturar, na mesma tabela, o que as pessoas escrevem e o que o sistema registra sozinho; a tela de detalhes desenha cada tipo de um jeito. O onDelete CASCADE existe no banco, mas o controller também apaga os comentários explicitamente, por segurança.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GET (ler, sem efeito colateral) e POST (alterar). A ordem das rotas importa: o Express testa na sequência, então /chamados/novo precisa vir antes de /chamados/:id. É um erro clássico de iniciantes. A rota de andamento é um atalho que muda só etapa e responsável.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app.js de cima para baixo. O middleware de variáveis é o que permite que qualquer view use C, fmt e aviso sem receber esses dados em cada render. O asyncHandler é uma função de três linhas, mas sem ela um erro dentro de um controller async deixaria a requisição pendurada.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está o melhor exemplo de por que a regra mora no model: não importa se a etapa mudou pelo formulário completo ou pelo atalho de andamento, o hook roda em qualquer save. O histórico fica no service porque envolve dois models e é chamado por dois controllers.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Reforce o último ponto: ausência de login é uma decisão de escopo. Quem for publicar o sistema na internet precisa de autenticação, HTTPS e proteção contra CSRF. Os outros cinco itens valem para qualquer projeto Express com banco.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 o ritmo com a turma: uma etapa por encontro funciona bem. Cada etapa tem um resultado visível, então ninguém termina a aula sem ver algo rodando. A etapa 6 pode virar exercício para casa.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Sirva estas ideias como exercícios. Login e SLA são os mais pedidos. Arrastar cartões é um bom primeiro contato com JavaScript no navegador falando com o servidor, porque a rota de andamento já existe.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encerrar, confirme que todos têm Node.js instalado (node -v). Quem não tiver, resolva agora para não atrasar a próxima aula. Feche anunciando a etapa 1 do roteiro: criar o projeto base com Express.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91440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7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65836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3657600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Chamados de TI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75488" y="629107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3657600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Chamados de TI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75488" y="629107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75488" y="629107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VC grande"/>
          <p:cNvSpPr txBox="1"/>
          <p:nvPr/>
        </p:nvSpPr>
        <p:spPr>
          <a:xfrm>
            <a:off x="5029200" y="365760"/>
            <a:ext cx="6611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0" b="1" dirty="0">
                <a:solidFill>
                  <a:schemeClr val="bg1"/>
                </a:solidFill>
              </a:rPr>
              <a:t>MVC</a:t>
            </a:r>
            <a:endParaRPr lang="en-US" sz="12000" dirty="0"/>
          </a:p>
        </p:txBody>
      </p:sp>
      <p:sp>
        <p:nvSpPr>
          <p:cNvPr id="3" name="Tipo de aula"/>
          <p:cNvSpPr txBox="1"/>
          <p:nvPr/>
        </p:nvSpPr>
        <p:spPr>
          <a:xfrm>
            <a:off x="54864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Aula introdutória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19456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Chamados de TI</a:t>
            </a:r>
            <a:endParaRPr lang="en-US" sz="7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9319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Sistema de suporte em MVC com Node.js, Express, EJS e Sequelize</a:t>
            </a:r>
            <a:endParaRPr lang="en-US" sz="2400" dirty="0"/>
          </a:p>
        </p:txBody>
      </p:sp>
      <p:sp>
        <p:nvSpPr>
          <p:cNvPr id="6" name="Fio"/>
          <p:cNvSpPr/>
          <p:nvPr/>
        </p:nvSpPr>
        <p:spPr>
          <a:xfrm>
            <a:off x="548640" y="5486400"/>
            <a:ext cx="11091672" cy="0"/>
          </a:xfrm>
          <a:prstGeom prst="line">
            <a:avLst/>
          </a:prstGeom>
          <a:noFill/>
          <a:ln w="12700">
            <a:solidFill>
              <a:schemeClr val="bg1"/>
            </a:solidFill>
            <a:prstDash val="solid"/>
          </a:ln>
        </p:spPr>
      </p:sp>
      <p:sp>
        <p:nvSpPr>
          <p:cNvPr id="7" name="Legenda da capa"/>
          <p:cNvSpPr txBox="1"/>
          <p:nvPr/>
        </p:nvSpPr>
        <p:spPr>
          <a:xfrm>
            <a:off x="548640" y="56692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Apresentação do projeto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antes do desenvolvimento</a:t>
            </a:r>
            <a:endParaRPr lang="en-US" sz="1400" dirty="0"/>
          </a:p>
        </p:txBody>
      </p:sp>
      <p:sp>
        <p:nvSpPr>
          <p:cNvPr id="8" name="Tecnologias na capa"/>
          <p:cNvSpPr txBox="1"/>
          <p:nvPr/>
        </p:nvSpPr>
        <p:spPr>
          <a:xfrm>
            <a:off x="7498080" y="5669280"/>
            <a:ext cx="4142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Node.js  Express  EJS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Sequelize  SQLite  CSS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ção"/>
          <p:cNvSpPr txBox="1"/>
          <p:nvPr/>
        </p:nvSpPr>
        <p:spPr>
          <a:xfrm>
            <a:off x="54864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Início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Roteiro da apresentação</a:t>
            </a:r>
            <a:endParaRPr lang="en-US" sz="2800" dirty="0"/>
          </a:p>
        </p:txBody>
      </p:sp>
      <p:sp>
        <p:nvSpPr>
          <p:cNvPr id="4" name="Resumo do slide"/>
          <p:cNvSpPr txBox="1"/>
          <p:nvPr/>
        </p:nvSpPr>
        <p:spPr>
          <a:xfrm>
            <a:off x="548640" y="356616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Quatro blocos, do contexto ao código. Cada bloco prepara o seguinte, então vale seguir a ordem.</a:t>
            </a:r>
            <a:endParaRPr lang="en-US" sz="1400" dirty="0"/>
          </a:p>
        </p:txBody>
      </p:sp>
      <p:sp>
        <p:nvSpPr>
          <p:cNvPr id="5" name="Fio"/>
          <p:cNvSpPr/>
          <p:nvPr/>
        </p:nvSpPr>
        <p:spPr>
          <a:xfrm>
            <a:off x="3657600" y="548640"/>
            <a:ext cx="798271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6" name="Número do bloco 1"/>
          <p:cNvSpPr txBox="1"/>
          <p:nvPr/>
        </p:nvSpPr>
        <p:spPr>
          <a:xfrm>
            <a:off x="3657600" y="6858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01</a:t>
            </a:r>
            <a:endParaRPr lang="en-US" sz="4800" dirty="0"/>
          </a:p>
        </p:txBody>
      </p:sp>
      <p:sp>
        <p:nvSpPr>
          <p:cNvPr id="7" name="Bloco Contexto"/>
          <p:cNvSpPr txBox="1"/>
          <p:nvPr/>
        </p:nvSpPr>
        <p:spPr>
          <a:xfrm>
            <a:off x="5120640" y="731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Contexto</a:t>
            </a:r>
            <a:endParaRPr lang="en-US" sz="2000" dirty="0"/>
          </a:p>
        </p:txBody>
      </p:sp>
      <p:sp>
        <p:nvSpPr>
          <p:cNvPr id="8" name="Descrição Contexto"/>
          <p:cNvSpPr txBox="1"/>
          <p:nvPr/>
        </p:nvSpPr>
        <p:spPr>
          <a:xfrm>
            <a:off x="5120640" y="11430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problema que o sistema resolve, as funcionalidades e como o painel decide o que mostrar.</a:t>
            </a:r>
            <a:endParaRPr lang="en-US" sz="1400" dirty="0"/>
          </a:p>
        </p:txBody>
      </p:sp>
      <p:sp>
        <p:nvSpPr>
          <p:cNvPr id="9" name="Slides Contexto"/>
          <p:cNvSpPr txBox="1"/>
          <p:nvPr/>
        </p:nvSpPr>
        <p:spPr>
          <a:xfrm>
            <a:off x="10177272" y="7680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Slides 3 a 6</a:t>
            </a:r>
            <a:endParaRPr lang="en-US" sz="1200" dirty="0"/>
          </a:p>
        </p:txBody>
      </p:sp>
      <p:sp>
        <p:nvSpPr>
          <p:cNvPr id="10" name="Fio"/>
          <p:cNvSpPr/>
          <p:nvPr/>
        </p:nvSpPr>
        <p:spPr>
          <a:xfrm>
            <a:off x="3657600" y="1920240"/>
            <a:ext cx="7982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1" name="Número do bloco 2"/>
          <p:cNvSpPr txBox="1"/>
          <p:nvPr/>
        </p:nvSpPr>
        <p:spPr>
          <a:xfrm>
            <a:off x="3657600" y="20574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02</a:t>
            </a:r>
            <a:endParaRPr lang="en-US" sz="4800" dirty="0"/>
          </a:p>
        </p:txBody>
      </p:sp>
      <p:sp>
        <p:nvSpPr>
          <p:cNvPr id="12" name="Bloco Fundamentos"/>
          <p:cNvSpPr txBox="1"/>
          <p:nvPr/>
        </p:nvSpPr>
        <p:spPr>
          <a:xfrm>
            <a:off x="5120640" y="2103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Fundamentos</a:t>
            </a:r>
            <a:endParaRPr lang="en-US" sz="2000" dirty="0"/>
          </a:p>
        </p:txBody>
      </p:sp>
      <p:sp>
        <p:nvSpPr>
          <p:cNvPr id="13" name="Descrição Fundamentos"/>
          <p:cNvSpPr txBox="1"/>
          <p:nvPr/>
        </p:nvSpPr>
        <p:spPr>
          <a:xfrm>
            <a:off x="5120640" y="25146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 tecnologias escolhidas, o padrão MVC e o caminho completo de uma requisição.</a:t>
            </a:r>
            <a:endParaRPr lang="en-US" sz="1400" dirty="0"/>
          </a:p>
        </p:txBody>
      </p:sp>
      <p:sp>
        <p:nvSpPr>
          <p:cNvPr id="14" name="Slides Fundamentos"/>
          <p:cNvSpPr txBox="1"/>
          <p:nvPr/>
        </p:nvSpPr>
        <p:spPr>
          <a:xfrm>
            <a:off x="10177272" y="21396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Slides 7 a 9</a:t>
            </a:r>
            <a:endParaRPr lang="en-US" sz="1200" dirty="0"/>
          </a:p>
        </p:txBody>
      </p:sp>
      <p:sp>
        <p:nvSpPr>
          <p:cNvPr id="15" name="Fio"/>
          <p:cNvSpPr/>
          <p:nvPr/>
        </p:nvSpPr>
        <p:spPr>
          <a:xfrm>
            <a:off x="3657600" y="3291840"/>
            <a:ext cx="7982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6" name="Número do bloco 3"/>
          <p:cNvSpPr txBox="1"/>
          <p:nvPr/>
        </p:nvSpPr>
        <p:spPr>
          <a:xfrm>
            <a:off x="3657600" y="34290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03</a:t>
            </a:r>
            <a:endParaRPr lang="en-US" sz="4800" dirty="0"/>
          </a:p>
        </p:txBody>
      </p:sp>
      <p:sp>
        <p:nvSpPr>
          <p:cNvPr id="17" name="Bloco Estrutura"/>
          <p:cNvSpPr txBox="1"/>
          <p:nvPr/>
        </p:nvSpPr>
        <p:spPr>
          <a:xfrm>
            <a:off x="5120640" y="3474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Estrutura</a:t>
            </a:r>
            <a:endParaRPr lang="en-US" sz="2000" dirty="0"/>
          </a:p>
        </p:txBody>
      </p:sp>
      <p:sp>
        <p:nvSpPr>
          <p:cNvPr id="18" name="Descrição Estrutura"/>
          <p:cNvSpPr txBox="1"/>
          <p:nvPr/>
        </p:nvSpPr>
        <p:spPr>
          <a:xfrm>
            <a:off x="5120640" y="38862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Pastas, tabelas do banco, rotas e a ordem dos middlewares do Express.</a:t>
            </a:r>
            <a:endParaRPr lang="en-US" sz="1400" dirty="0"/>
          </a:p>
        </p:txBody>
      </p:sp>
      <p:sp>
        <p:nvSpPr>
          <p:cNvPr id="19" name="Slides Estrutura"/>
          <p:cNvSpPr txBox="1"/>
          <p:nvPr/>
        </p:nvSpPr>
        <p:spPr>
          <a:xfrm>
            <a:off x="10177272" y="35112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Slides 10 a 14</a:t>
            </a:r>
            <a:endParaRPr lang="en-US" sz="1200" dirty="0"/>
          </a:p>
        </p:txBody>
      </p:sp>
      <p:sp>
        <p:nvSpPr>
          <p:cNvPr id="20" name="Fio"/>
          <p:cNvSpPr/>
          <p:nvPr/>
        </p:nvSpPr>
        <p:spPr>
          <a:xfrm>
            <a:off x="3657600" y="4663440"/>
            <a:ext cx="7982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1" name="Número do bloco 4"/>
          <p:cNvSpPr txBox="1"/>
          <p:nvPr/>
        </p:nvSpPr>
        <p:spPr>
          <a:xfrm>
            <a:off x="3657600" y="48006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04</a:t>
            </a:r>
            <a:endParaRPr lang="en-US" sz="4800" dirty="0"/>
          </a:p>
        </p:txBody>
      </p:sp>
      <p:sp>
        <p:nvSpPr>
          <p:cNvPr id="22" name="Bloco Prática"/>
          <p:cNvSpPr txBox="1"/>
          <p:nvPr/>
        </p:nvSpPr>
        <p:spPr>
          <a:xfrm>
            <a:off x="5120640" y="4846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Prática</a:t>
            </a:r>
            <a:endParaRPr lang="en-US" sz="2000" dirty="0"/>
          </a:p>
        </p:txBody>
      </p:sp>
      <p:sp>
        <p:nvSpPr>
          <p:cNvPr id="23" name="Descrição Prática"/>
          <p:cNvSpPr txBox="1"/>
          <p:nvPr/>
        </p:nvSpPr>
        <p:spPr>
          <a:xfrm>
            <a:off x="5120640" y="52578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Regras de negócio no código, qualidade e segurança, roteiro das aulas, evoluções e como rodar.</a:t>
            </a:r>
            <a:endParaRPr lang="en-US" sz="1400" dirty="0"/>
          </a:p>
        </p:txBody>
      </p:sp>
      <p:sp>
        <p:nvSpPr>
          <p:cNvPr id="24" name="Slides Prática"/>
          <p:cNvSpPr txBox="1"/>
          <p:nvPr/>
        </p:nvSpPr>
        <p:spPr>
          <a:xfrm>
            <a:off x="10177272" y="4882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Slides 15 a 19</a:t>
            </a:r>
            <a:endParaRPr lang="en-US" sz="1200" dirty="0"/>
          </a:p>
        </p:txBody>
      </p:sp>
      <p:sp>
        <p:nvSpPr>
          <p:cNvPr id="25" name="Fio"/>
          <p:cNvSpPr/>
          <p:nvPr/>
        </p:nvSpPr>
        <p:spPr>
          <a:xfrm>
            <a:off x="3657600" y="6035040"/>
            <a:ext cx="7982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75488" y="629107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ção"/>
          <p:cNvSpPr txBox="1"/>
          <p:nvPr/>
        </p:nvSpPr>
        <p:spPr>
          <a:xfrm>
            <a:off x="54864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01  Contexto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 problema e o objetivo</a:t>
            </a:r>
            <a:endParaRPr lang="en-US" sz="2800" dirty="0"/>
          </a:p>
        </p:txBody>
      </p:sp>
      <p:sp>
        <p:nvSpPr>
          <p:cNvPr id="4" name="Resumo do slide"/>
          <p:cNvSpPr txBox="1"/>
          <p:nvPr/>
        </p:nvSpPr>
        <p:spPr>
          <a:xfrm>
            <a:off x="548640" y="356616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Um sistema pequeno e completo: bom para aprender porque cobre banco, regras, telas e rotas sem exigir login.</a:t>
            </a:r>
            <a:endParaRPr lang="en-US" sz="1400" dirty="0"/>
          </a:p>
        </p:txBody>
      </p:sp>
      <p:sp>
        <p:nvSpPr>
          <p:cNvPr id="5" name="Fio"/>
          <p:cNvSpPr/>
          <p:nvPr/>
        </p:nvSpPr>
        <p:spPr>
          <a:xfrm>
            <a:off x="3657600" y="548640"/>
            <a:ext cx="798271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6" name="Rótulo O problema"/>
          <p:cNvSpPr txBox="1"/>
          <p:nvPr/>
        </p:nvSpPr>
        <p:spPr>
          <a:xfrm>
            <a:off x="3657600" y="70408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 problema</a:t>
            </a:r>
            <a:endParaRPr lang="en-US" sz="1600" dirty="0"/>
          </a:p>
        </p:txBody>
      </p:sp>
      <p:sp>
        <p:nvSpPr>
          <p:cNvPr id="7" name="Texto O problema"/>
          <p:cNvSpPr txBox="1"/>
          <p:nvPr/>
        </p:nvSpPr>
        <p:spPr>
          <a:xfrm>
            <a:off x="5669280" y="704088"/>
            <a:ext cx="5971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Pedidos de suporte chegam por e-mail, mensagem e conversa de corredor. Sem um registro único, ninguém sabe o que está aberto, quem está cuidando nem o que é mais urgente.</a:t>
            </a:r>
            <a:endParaRPr lang="en-US" sz="1400" dirty="0"/>
          </a:p>
        </p:txBody>
      </p:sp>
      <p:sp>
        <p:nvSpPr>
          <p:cNvPr id="8" name="Fio"/>
          <p:cNvSpPr/>
          <p:nvPr/>
        </p:nvSpPr>
        <p:spPr>
          <a:xfrm>
            <a:off x="3657600" y="1600200"/>
            <a:ext cx="7982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9" name="Rótulo O objetivo"/>
          <p:cNvSpPr txBox="1"/>
          <p:nvPr/>
        </p:nvSpPr>
        <p:spPr>
          <a:xfrm>
            <a:off x="3657600" y="175564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 objetivo</a:t>
            </a:r>
            <a:endParaRPr lang="en-US" sz="1600" dirty="0"/>
          </a:p>
        </p:txBody>
      </p:sp>
      <p:sp>
        <p:nvSpPr>
          <p:cNvPr id="10" name="Texto O objetivo"/>
          <p:cNvSpPr txBox="1"/>
          <p:nvPr/>
        </p:nvSpPr>
        <p:spPr>
          <a:xfrm>
            <a:off x="5669280" y="1755648"/>
            <a:ext cx="5971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 lugar só para registrar, priorizar e acompanhar chamados de TI, com o histórico de cada atendimento guardado junto do chamado.</a:t>
            </a:r>
            <a:endParaRPr lang="en-US" sz="1400" dirty="0"/>
          </a:p>
        </p:txBody>
      </p:sp>
      <p:sp>
        <p:nvSpPr>
          <p:cNvPr id="11" name="Fio"/>
          <p:cNvSpPr/>
          <p:nvPr/>
        </p:nvSpPr>
        <p:spPr>
          <a:xfrm>
            <a:off x="3657600" y="2651760"/>
            <a:ext cx="7982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2" name="Rótulo Dentro do escopo"/>
          <p:cNvSpPr txBox="1"/>
          <p:nvPr/>
        </p:nvSpPr>
        <p:spPr>
          <a:xfrm>
            <a:off x="3657600" y="280720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Dentro do escopo</a:t>
            </a:r>
            <a:endParaRPr lang="en-US" sz="1600" dirty="0"/>
          </a:p>
        </p:txBody>
      </p:sp>
      <p:sp>
        <p:nvSpPr>
          <p:cNvPr id="13" name="Texto Dentro do escopo"/>
          <p:cNvSpPr txBox="1"/>
          <p:nvPr/>
        </p:nvSpPr>
        <p:spPr>
          <a:xfrm>
            <a:off x="5669280" y="2807208"/>
            <a:ext cx="5971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Cadastro e edição, painel por etapas, lista com filtros, comentários e histórico automático de mudanças.</a:t>
            </a:r>
            <a:endParaRPr lang="en-US" sz="1400" dirty="0"/>
          </a:p>
        </p:txBody>
      </p:sp>
      <p:sp>
        <p:nvSpPr>
          <p:cNvPr id="14" name="Fio"/>
          <p:cNvSpPr/>
          <p:nvPr/>
        </p:nvSpPr>
        <p:spPr>
          <a:xfrm>
            <a:off x="3657600" y="3703320"/>
            <a:ext cx="7982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5" name="Rótulo Fora do escopo"/>
          <p:cNvSpPr txBox="1"/>
          <p:nvPr/>
        </p:nvSpPr>
        <p:spPr>
          <a:xfrm>
            <a:off x="3657600" y="385876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Fora do escopo</a:t>
            </a:r>
            <a:endParaRPr lang="en-US" sz="1600" dirty="0"/>
          </a:p>
        </p:txBody>
      </p:sp>
      <p:sp>
        <p:nvSpPr>
          <p:cNvPr id="16" name="Texto Fora do escopo"/>
          <p:cNvSpPr txBox="1"/>
          <p:nvPr/>
        </p:nvSpPr>
        <p:spPr>
          <a:xfrm>
            <a:off x="5669280" y="3858768"/>
            <a:ext cx="5971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Login e permissões, anexos, notificações por e-mail e prazos de atendimento (SLA). Ficam como evolução, no fim da apresentação.</a:t>
            </a:r>
            <a:endParaRPr lang="en-US" sz="1400" dirty="0"/>
          </a:p>
        </p:txBody>
      </p:sp>
      <p:sp>
        <p:nvSpPr>
          <p:cNvPr id="17" name="Fio"/>
          <p:cNvSpPr/>
          <p:nvPr/>
        </p:nvSpPr>
        <p:spPr>
          <a:xfrm>
            <a:off x="3657600" y="4754880"/>
            <a:ext cx="7982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8" name="Rótulo Quem usa"/>
          <p:cNvSpPr txBox="1"/>
          <p:nvPr/>
        </p:nvSpPr>
        <p:spPr>
          <a:xfrm>
            <a:off x="3657600" y="491032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Quem usa</a:t>
            </a:r>
            <a:endParaRPr lang="en-US" sz="1600" dirty="0"/>
          </a:p>
        </p:txBody>
      </p:sp>
      <p:sp>
        <p:nvSpPr>
          <p:cNvPr id="19" name="Texto Quem usa"/>
          <p:cNvSpPr txBox="1"/>
          <p:nvPr/>
        </p:nvSpPr>
        <p:spPr>
          <a:xfrm>
            <a:off x="5669280" y="4910328"/>
            <a:ext cx="5971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Equipe pequena de suporte, rodando na própria máquina ou em uma rede interna confiável.</a:t>
            </a:r>
            <a:endParaRPr lang="en-US" sz="1400" dirty="0"/>
          </a:p>
        </p:txBody>
      </p:sp>
      <p:sp>
        <p:nvSpPr>
          <p:cNvPr id="20" name="Fio"/>
          <p:cNvSpPr/>
          <p:nvPr/>
        </p:nvSpPr>
        <p:spPr>
          <a:xfrm>
            <a:off x="3657600" y="5806440"/>
            <a:ext cx="7982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75488" y="629107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ção"/>
          <p:cNvSpPr txBox="1"/>
          <p:nvPr/>
        </p:nvSpPr>
        <p:spPr>
          <a:xfrm>
            <a:off x="54864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01  Contexto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 que o sistema faz</a:t>
            </a:r>
            <a:endParaRPr lang="en-US" sz="2800" dirty="0"/>
          </a:p>
        </p:txBody>
      </p:sp>
      <p:sp>
        <p:nvSpPr>
          <p:cNvPr id="4" name="Resumo do slide"/>
          <p:cNvSpPr txBox="1"/>
          <p:nvPr/>
        </p:nvSpPr>
        <p:spPr>
          <a:xfrm>
            <a:off x="548640" y="356616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Oito funcionalidades, todas acessíveis pelo navegador. Quase todas são páginas e formulários HTML comuns.</a:t>
            </a:r>
            <a:endParaRPr lang="en-US" sz="1400" dirty="0"/>
          </a:p>
        </p:txBody>
      </p:sp>
      <p:sp>
        <p:nvSpPr>
          <p:cNvPr id="5" name="Fio"/>
          <p:cNvSpPr/>
          <p:nvPr/>
        </p:nvSpPr>
        <p:spPr>
          <a:xfrm>
            <a:off x="3657600" y="548640"/>
            <a:ext cx="384048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6" name="Título Painel por etapas"/>
          <p:cNvSpPr txBox="1"/>
          <p:nvPr/>
        </p:nvSpPr>
        <p:spPr>
          <a:xfrm>
            <a:off x="3657600" y="685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Painel por etapas</a:t>
            </a:r>
            <a:endParaRPr lang="en-US" sz="1600" dirty="0"/>
          </a:p>
        </p:txBody>
      </p:sp>
      <p:sp>
        <p:nvSpPr>
          <p:cNvPr id="7" name="Detalhe Painel por etapas"/>
          <p:cNvSpPr txBox="1"/>
          <p:nvPr/>
        </p:nvSpPr>
        <p:spPr>
          <a:xfrm>
            <a:off x="3657600" y="10515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Quatro colunas (Aberto, Em andamento, Resolvido, Fechado) com até 8 chamados cada, do mais urgente ao menos.</a:t>
            </a:r>
            <a:endParaRPr lang="en-US" sz="1400" dirty="0"/>
          </a:p>
        </p:txBody>
      </p:sp>
      <p:sp>
        <p:nvSpPr>
          <p:cNvPr id="8" name="Fio"/>
          <p:cNvSpPr/>
          <p:nvPr/>
        </p:nvSpPr>
        <p:spPr>
          <a:xfrm>
            <a:off x="3657600" y="1920240"/>
            <a:ext cx="38404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9" name="Título Indicadores"/>
          <p:cNvSpPr txBox="1"/>
          <p:nvPr/>
        </p:nvSpPr>
        <p:spPr>
          <a:xfrm>
            <a:off x="3657600" y="2057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Indicadores</a:t>
            </a:r>
            <a:endParaRPr lang="en-US" sz="1600" dirty="0"/>
          </a:p>
        </p:txBody>
      </p:sp>
      <p:sp>
        <p:nvSpPr>
          <p:cNvPr id="10" name="Detalhe Indicadores"/>
          <p:cNvSpPr txBox="1"/>
          <p:nvPr/>
        </p:nvSpPr>
        <p:spPr>
          <a:xfrm>
            <a:off x="3657600" y="24231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Chamados ativos, urgentes, sem responsável e resolvidos nos últimos 7 dias, no topo do painel.</a:t>
            </a:r>
            <a:endParaRPr lang="en-US" sz="1400" dirty="0"/>
          </a:p>
        </p:txBody>
      </p:sp>
      <p:sp>
        <p:nvSpPr>
          <p:cNvPr id="11" name="Fio"/>
          <p:cNvSpPr/>
          <p:nvPr/>
        </p:nvSpPr>
        <p:spPr>
          <a:xfrm>
            <a:off x="3657600" y="3291840"/>
            <a:ext cx="38404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2" name="Título Lista com filtros"/>
          <p:cNvSpPr txBox="1"/>
          <p:nvPr/>
        </p:nvSpPr>
        <p:spPr>
          <a:xfrm>
            <a:off x="3657600" y="3429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Lista com filtros</a:t>
            </a:r>
            <a:endParaRPr lang="en-US" sz="1600" dirty="0"/>
          </a:p>
        </p:txBody>
      </p:sp>
      <p:sp>
        <p:nvSpPr>
          <p:cNvPr id="13" name="Detalhe Lista com filtros"/>
          <p:cNvSpPr txBox="1"/>
          <p:nvPr/>
        </p:nvSpPr>
        <p:spPr>
          <a:xfrm>
            <a:off x="3657600" y="37947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Busca por texto em título, descrição, solicitante e responsável; filtros por etapa, prioridade e categoria.</a:t>
            </a:r>
            <a:endParaRPr lang="en-US" sz="1400" dirty="0"/>
          </a:p>
        </p:txBody>
      </p:sp>
      <p:sp>
        <p:nvSpPr>
          <p:cNvPr id="14" name="Fio"/>
          <p:cNvSpPr/>
          <p:nvPr/>
        </p:nvSpPr>
        <p:spPr>
          <a:xfrm>
            <a:off x="3657600" y="4663440"/>
            <a:ext cx="38404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5" name="Título Cadastro e edição"/>
          <p:cNvSpPr txBox="1"/>
          <p:nvPr/>
        </p:nvSpPr>
        <p:spPr>
          <a:xfrm>
            <a:off x="3657600" y="4800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Cadastro e edição</a:t>
            </a:r>
            <a:endParaRPr lang="en-US" sz="1600" dirty="0"/>
          </a:p>
        </p:txBody>
      </p:sp>
      <p:sp>
        <p:nvSpPr>
          <p:cNvPr id="16" name="Detalhe Cadastro e edição"/>
          <p:cNvSpPr txBox="1"/>
          <p:nvPr/>
        </p:nvSpPr>
        <p:spPr>
          <a:xfrm>
            <a:off x="3657600" y="51663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Título, descrição, solicitante, setor, categoria, prioridade e responsável, com validação dos campos.</a:t>
            </a:r>
            <a:endParaRPr lang="en-US" sz="1400" dirty="0"/>
          </a:p>
        </p:txBody>
      </p:sp>
      <p:sp>
        <p:nvSpPr>
          <p:cNvPr id="17" name="Fio"/>
          <p:cNvSpPr/>
          <p:nvPr/>
        </p:nvSpPr>
        <p:spPr>
          <a:xfrm>
            <a:off x="7799832" y="548640"/>
            <a:ext cx="384048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18" name="Título Andamento rápido"/>
          <p:cNvSpPr txBox="1"/>
          <p:nvPr/>
        </p:nvSpPr>
        <p:spPr>
          <a:xfrm>
            <a:off x="7799832" y="685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Andamento rápido</a:t>
            </a:r>
            <a:endParaRPr lang="en-US" sz="1600" dirty="0"/>
          </a:p>
        </p:txBody>
      </p:sp>
      <p:sp>
        <p:nvSpPr>
          <p:cNvPr id="19" name="Detalhe Andamento rápido"/>
          <p:cNvSpPr txBox="1"/>
          <p:nvPr/>
        </p:nvSpPr>
        <p:spPr>
          <a:xfrm>
            <a:off x="7799832" y="10515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Troca etapa e responsável direto na tela de detalhes, sem abrir o formulário completo.</a:t>
            </a:r>
            <a:endParaRPr lang="en-US" sz="1400" dirty="0"/>
          </a:p>
        </p:txBody>
      </p:sp>
      <p:sp>
        <p:nvSpPr>
          <p:cNvPr id="20" name="Fio"/>
          <p:cNvSpPr/>
          <p:nvPr/>
        </p:nvSpPr>
        <p:spPr>
          <a:xfrm>
            <a:off x="7799832" y="1920240"/>
            <a:ext cx="38404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1" name="Título Comentários"/>
          <p:cNvSpPr txBox="1"/>
          <p:nvPr/>
        </p:nvSpPr>
        <p:spPr>
          <a:xfrm>
            <a:off x="7799832" y="2057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Comentários</a:t>
            </a:r>
            <a:endParaRPr lang="en-US" sz="1600" dirty="0"/>
          </a:p>
        </p:txBody>
      </p:sp>
      <p:sp>
        <p:nvSpPr>
          <p:cNvPr id="22" name="Detalhe Comentários"/>
          <p:cNvSpPr txBox="1"/>
          <p:nvPr/>
        </p:nvSpPr>
        <p:spPr>
          <a:xfrm>
            <a:off x="7799832" y="24231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Notas de quem atende, com nome e horário. O nome digitado fica salvo no navegador.</a:t>
            </a:r>
            <a:endParaRPr lang="en-US" sz="1400" dirty="0"/>
          </a:p>
        </p:txBody>
      </p:sp>
      <p:sp>
        <p:nvSpPr>
          <p:cNvPr id="23" name="Fio"/>
          <p:cNvSpPr/>
          <p:nvPr/>
        </p:nvSpPr>
        <p:spPr>
          <a:xfrm>
            <a:off x="7799832" y="3291840"/>
            <a:ext cx="38404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4" name="Título Histórico automático"/>
          <p:cNvSpPr txBox="1"/>
          <p:nvPr/>
        </p:nvSpPr>
        <p:spPr>
          <a:xfrm>
            <a:off x="7799832" y="3429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Histórico automático</a:t>
            </a:r>
            <a:endParaRPr lang="en-US" sz="1600" dirty="0"/>
          </a:p>
        </p:txBody>
      </p:sp>
      <p:sp>
        <p:nvSpPr>
          <p:cNvPr id="25" name="Detalhe Histórico automático"/>
          <p:cNvSpPr txBox="1"/>
          <p:nvPr/>
        </p:nvSpPr>
        <p:spPr>
          <a:xfrm>
            <a:off x="7799832" y="37947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Mudanças de etapa, prioridade e responsável viram registros no histórico do chamado.</a:t>
            </a:r>
            <a:endParaRPr lang="en-US" sz="1400" dirty="0"/>
          </a:p>
        </p:txBody>
      </p:sp>
      <p:sp>
        <p:nvSpPr>
          <p:cNvPr id="26" name="Fio"/>
          <p:cNvSpPr/>
          <p:nvPr/>
        </p:nvSpPr>
        <p:spPr>
          <a:xfrm>
            <a:off x="7799832" y="4663440"/>
            <a:ext cx="38404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7" name="Título Código e exclusão"/>
          <p:cNvSpPr txBox="1"/>
          <p:nvPr/>
        </p:nvSpPr>
        <p:spPr>
          <a:xfrm>
            <a:off x="7799832" y="4800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Código e exclusão</a:t>
            </a:r>
            <a:endParaRPr lang="en-US" sz="1600" dirty="0"/>
          </a:p>
        </p:txBody>
      </p:sp>
      <p:sp>
        <p:nvSpPr>
          <p:cNvPr id="28" name="Detalhe Código e exclusão"/>
          <p:cNvSpPr txBox="1"/>
          <p:nvPr/>
        </p:nvSpPr>
        <p:spPr>
          <a:xfrm>
            <a:off x="7799832" y="51663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chamado ganha um código (CH-0001). Excluir pede confirmação e apaga também os comentários.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75488" y="629107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ção"/>
          <p:cNvSpPr txBox="1"/>
          <p:nvPr/>
        </p:nvSpPr>
        <p:spPr>
          <a:xfrm>
            <a:off x="54864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01  Contexto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 painel</a:t>
            </a:r>
            <a:endParaRPr lang="en-US" sz="2800" dirty="0"/>
          </a:p>
        </p:txBody>
      </p:sp>
      <p:sp>
        <p:nvSpPr>
          <p:cNvPr id="4" name="Resumo do slide"/>
          <p:cNvSpPr txBox="1"/>
          <p:nvPr/>
        </p:nvSpPr>
        <p:spPr>
          <a:xfrm>
            <a:off x="548640" y="356616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Dados de exemplo do comando npm run seed. Dentro de cada coluna ativa, o chamado mais urgente aparece primeiro.</a:t>
            </a:r>
            <a:endParaRPr lang="en-US" sz="1400" dirty="0"/>
          </a:p>
        </p:txBody>
      </p:sp>
      <p:sp>
        <p:nvSpPr>
          <p:cNvPr id="5" name="Indicador ativos"/>
          <p:cNvSpPr txBox="1"/>
          <p:nvPr/>
        </p:nvSpPr>
        <p:spPr>
          <a:xfrm>
            <a:off x="3657600" y="502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</a:rPr>
              <a:t>5</a:t>
            </a:r>
            <a:endParaRPr lang="en-US" sz="6000" dirty="0"/>
          </a:p>
        </p:txBody>
      </p:sp>
      <p:sp>
        <p:nvSpPr>
          <p:cNvPr id="6" name="Legenda ativos"/>
          <p:cNvSpPr txBox="1"/>
          <p:nvPr/>
        </p:nvSpPr>
        <p:spPr>
          <a:xfrm>
            <a:off x="365760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ativos</a:t>
            </a:r>
            <a:endParaRPr lang="en-US" sz="1400" dirty="0"/>
          </a:p>
        </p:txBody>
      </p:sp>
      <p:sp>
        <p:nvSpPr>
          <p:cNvPr id="7" name="Indicador urgentes"/>
          <p:cNvSpPr txBox="1"/>
          <p:nvPr/>
        </p:nvSpPr>
        <p:spPr>
          <a:xfrm>
            <a:off x="5710428" y="502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2</a:t>
            </a:r>
            <a:endParaRPr lang="en-US" sz="6000" dirty="0"/>
          </a:p>
        </p:txBody>
      </p:sp>
      <p:sp>
        <p:nvSpPr>
          <p:cNvPr id="8" name="Legenda urgentes"/>
          <p:cNvSpPr txBox="1"/>
          <p:nvPr/>
        </p:nvSpPr>
        <p:spPr>
          <a:xfrm>
            <a:off x="5710428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urgentes</a:t>
            </a:r>
            <a:endParaRPr lang="en-US" sz="1400" dirty="0"/>
          </a:p>
        </p:txBody>
      </p:sp>
      <p:sp>
        <p:nvSpPr>
          <p:cNvPr id="9" name="Indicador sem responsável"/>
          <p:cNvSpPr txBox="1"/>
          <p:nvPr/>
        </p:nvSpPr>
        <p:spPr>
          <a:xfrm>
            <a:off x="7763256" y="502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</a:rPr>
              <a:t>2</a:t>
            </a:r>
            <a:endParaRPr lang="en-US" sz="6000" dirty="0"/>
          </a:p>
        </p:txBody>
      </p:sp>
      <p:sp>
        <p:nvSpPr>
          <p:cNvPr id="10" name="Legenda sem responsável"/>
          <p:cNvSpPr txBox="1"/>
          <p:nvPr/>
        </p:nvSpPr>
        <p:spPr>
          <a:xfrm>
            <a:off x="7763256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sem responsável</a:t>
            </a:r>
            <a:endParaRPr lang="en-US" sz="1400" dirty="0"/>
          </a:p>
        </p:txBody>
      </p:sp>
      <p:sp>
        <p:nvSpPr>
          <p:cNvPr id="11" name="Indicador resolvidos em 7 dias"/>
          <p:cNvSpPr txBox="1"/>
          <p:nvPr/>
        </p:nvSpPr>
        <p:spPr>
          <a:xfrm>
            <a:off x="9816084" y="502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</a:rPr>
              <a:t>3</a:t>
            </a:r>
            <a:endParaRPr lang="en-US" sz="6000" dirty="0"/>
          </a:p>
        </p:txBody>
      </p:sp>
      <p:sp>
        <p:nvSpPr>
          <p:cNvPr id="12" name="Legenda resolvidos em 7 dias"/>
          <p:cNvSpPr txBox="1"/>
          <p:nvPr/>
        </p:nvSpPr>
        <p:spPr>
          <a:xfrm>
            <a:off x="9816084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resolvidos em 7 dias</a:t>
            </a:r>
            <a:endParaRPr lang="en-US" sz="1400" dirty="0"/>
          </a:p>
        </p:txBody>
      </p:sp>
      <p:sp>
        <p:nvSpPr>
          <p:cNvPr id="13" name="Coluna Aberto"/>
          <p:cNvSpPr txBox="1"/>
          <p:nvPr/>
        </p:nvSpPr>
        <p:spPr>
          <a:xfrm>
            <a:off x="365760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Aberto  3</a:t>
            </a:r>
            <a:endParaRPr lang="en-US" sz="1400" dirty="0"/>
          </a:p>
        </p:txBody>
      </p:sp>
      <p:sp>
        <p:nvSpPr>
          <p:cNvPr id="14" name="Fio"/>
          <p:cNvSpPr/>
          <p:nvPr/>
        </p:nvSpPr>
        <p:spPr>
          <a:xfrm>
            <a:off x="3657600" y="2423160"/>
            <a:ext cx="18288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15" name="Chamado Notebook não liga"/>
          <p:cNvSpPr txBox="1"/>
          <p:nvPr/>
        </p:nvSpPr>
        <p:spPr>
          <a:xfrm>
            <a:off x="365760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Notebook não liga</a:t>
            </a:r>
            <a:endParaRPr lang="en-US" sz="1400" dirty="0"/>
          </a:p>
        </p:txBody>
      </p:sp>
      <p:sp>
        <p:nvSpPr>
          <p:cNvPr id="16" name="Solicitante Notebook não liga"/>
          <p:cNvSpPr txBox="1"/>
          <p:nvPr/>
        </p:nvSpPr>
        <p:spPr>
          <a:xfrm>
            <a:off x="3657600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Carlos · Comercial</a:t>
            </a:r>
            <a:endParaRPr lang="en-US" sz="1200" dirty="0"/>
          </a:p>
        </p:txBody>
      </p:sp>
      <p:sp>
        <p:nvSpPr>
          <p:cNvPr id="17" name="Prioridade Notebook não liga"/>
          <p:cNvSpPr txBox="1"/>
          <p:nvPr/>
        </p:nvSpPr>
        <p:spPr>
          <a:xfrm>
            <a:off x="3657600" y="33558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Alta</a:t>
            </a:r>
            <a:endParaRPr lang="en-US" sz="1200" dirty="0"/>
          </a:p>
        </p:txBody>
      </p:sp>
      <p:sp>
        <p:nvSpPr>
          <p:cNvPr id="18" name="Fio"/>
          <p:cNvSpPr/>
          <p:nvPr/>
        </p:nvSpPr>
        <p:spPr>
          <a:xfrm>
            <a:off x="3657600" y="3675888"/>
            <a:ext cx="182880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9" name="Chamado Criar e-mail novo colaborador"/>
          <p:cNvSpPr txBox="1"/>
          <p:nvPr/>
        </p:nvSpPr>
        <p:spPr>
          <a:xfrm>
            <a:off x="3657600" y="37673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Criar e-mail novo colaborador</a:t>
            </a:r>
            <a:endParaRPr lang="en-US" sz="1400" dirty="0"/>
          </a:p>
        </p:txBody>
      </p:sp>
      <p:sp>
        <p:nvSpPr>
          <p:cNvPr id="20" name="Solicitante Criar e-mail novo colaborador"/>
          <p:cNvSpPr txBox="1"/>
          <p:nvPr/>
        </p:nvSpPr>
        <p:spPr>
          <a:xfrm>
            <a:off x="3657600" y="4270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Paulo · RH</a:t>
            </a:r>
            <a:endParaRPr lang="en-US" sz="1200" dirty="0"/>
          </a:p>
        </p:txBody>
      </p:sp>
      <p:sp>
        <p:nvSpPr>
          <p:cNvPr id="21" name="Prioridade Criar e-mail novo colaborador"/>
          <p:cNvSpPr txBox="1"/>
          <p:nvPr/>
        </p:nvSpPr>
        <p:spPr>
          <a:xfrm>
            <a:off x="3657600" y="45171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Média</a:t>
            </a:r>
            <a:endParaRPr lang="en-US" sz="1200" dirty="0"/>
          </a:p>
        </p:txBody>
      </p:sp>
      <p:sp>
        <p:nvSpPr>
          <p:cNvPr id="22" name="Fio"/>
          <p:cNvSpPr/>
          <p:nvPr/>
        </p:nvSpPr>
        <p:spPr>
          <a:xfrm>
            <a:off x="3657600" y="4837176"/>
            <a:ext cx="182880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3" name="Chamado Impressora enroscando papel"/>
          <p:cNvSpPr txBox="1"/>
          <p:nvPr/>
        </p:nvSpPr>
        <p:spPr>
          <a:xfrm>
            <a:off x="3657600" y="49286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Impressora enroscando papel</a:t>
            </a:r>
            <a:endParaRPr lang="en-US" sz="1400" dirty="0"/>
          </a:p>
        </p:txBody>
      </p:sp>
      <p:sp>
        <p:nvSpPr>
          <p:cNvPr id="24" name="Solicitante Impressora enroscando papel"/>
          <p:cNvSpPr txBox="1"/>
          <p:nvPr/>
        </p:nvSpPr>
        <p:spPr>
          <a:xfrm>
            <a:off x="3657600" y="54315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Fernanda · Jurídico</a:t>
            </a:r>
            <a:endParaRPr lang="en-US" sz="1200" dirty="0"/>
          </a:p>
        </p:txBody>
      </p:sp>
      <p:sp>
        <p:nvSpPr>
          <p:cNvPr id="25" name="Prioridade Impressora enroscando papel"/>
          <p:cNvSpPr txBox="1"/>
          <p:nvPr/>
        </p:nvSpPr>
        <p:spPr>
          <a:xfrm>
            <a:off x="3657600" y="56784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Baixa</a:t>
            </a:r>
            <a:endParaRPr lang="en-US" sz="1200" dirty="0"/>
          </a:p>
        </p:txBody>
      </p:sp>
      <p:sp>
        <p:nvSpPr>
          <p:cNvPr id="26" name="Coluna Em andamento"/>
          <p:cNvSpPr txBox="1"/>
          <p:nvPr/>
        </p:nvSpPr>
        <p:spPr>
          <a:xfrm>
            <a:off x="5710428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Em andamento  2</a:t>
            </a:r>
            <a:endParaRPr lang="en-US" sz="1400" dirty="0"/>
          </a:p>
        </p:txBody>
      </p:sp>
      <p:sp>
        <p:nvSpPr>
          <p:cNvPr id="27" name="Fio"/>
          <p:cNvSpPr/>
          <p:nvPr/>
        </p:nvSpPr>
        <p:spPr>
          <a:xfrm>
            <a:off x="5710428" y="2423160"/>
            <a:ext cx="18288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28" name="Chamado Servidor de arquivos fora do ar"/>
          <p:cNvSpPr txBox="1"/>
          <p:nvPr/>
        </p:nvSpPr>
        <p:spPr>
          <a:xfrm>
            <a:off x="5710428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Servidor de arquivos fora do ar</a:t>
            </a:r>
            <a:endParaRPr lang="en-US" sz="1400" dirty="0"/>
          </a:p>
        </p:txBody>
      </p:sp>
      <p:sp>
        <p:nvSpPr>
          <p:cNvPr id="29" name="Solicitante Servidor de arquivos fora do ar"/>
          <p:cNvSpPr txBox="1"/>
          <p:nvPr/>
        </p:nvSpPr>
        <p:spPr>
          <a:xfrm>
            <a:off x="5710428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Marina · Financeiro</a:t>
            </a:r>
            <a:endParaRPr lang="en-US" sz="1200" dirty="0"/>
          </a:p>
        </p:txBody>
      </p:sp>
      <p:sp>
        <p:nvSpPr>
          <p:cNvPr id="30" name="Prioridade Servidor de arquivos fora do ar"/>
          <p:cNvSpPr txBox="1"/>
          <p:nvPr/>
        </p:nvSpPr>
        <p:spPr>
          <a:xfrm>
            <a:off x="5710428" y="33558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Crítica</a:t>
            </a:r>
            <a:endParaRPr lang="en-US" sz="1200" dirty="0"/>
          </a:p>
        </p:txBody>
      </p:sp>
      <p:sp>
        <p:nvSpPr>
          <p:cNvPr id="31" name="Fio"/>
          <p:cNvSpPr/>
          <p:nvPr/>
        </p:nvSpPr>
        <p:spPr>
          <a:xfrm>
            <a:off x="5710428" y="3675888"/>
            <a:ext cx="182880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32" name="Chamado Instalar pacote de design"/>
          <p:cNvSpPr txBox="1"/>
          <p:nvPr/>
        </p:nvSpPr>
        <p:spPr>
          <a:xfrm>
            <a:off x="5710428" y="37673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Instalar pacote de design</a:t>
            </a:r>
            <a:endParaRPr lang="en-US" sz="1400" dirty="0"/>
          </a:p>
        </p:txBody>
      </p:sp>
      <p:sp>
        <p:nvSpPr>
          <p:cNvPr id="33" name="Solicitante Instalar pacote de design"/>
          <p:cNvSpPr txBox="1"/>
          <p:nvPr/>
        </p:nvSpPr>
        <p:spPr>
          <a:xfrm>
            <a:off x="5710428" y="4270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Larissa · Marketing</a:t>
            </a:r>
            <a:endParaRPr lang="en-US" sz="1200" dirty="0"/>
          </a:p>
        </p:txBody>
      </p:sp>
      <p:sp>
        <p:nvSpPr>
          <p:cNvPr id="34" name="Prioridade Instalar pacote de design"/>
          <p:cNvSpPr txBox="1"/>
          <p:nvPr/>
        </p:nvSpPr>
        <p:spPr>
          <a:xfrm>
            <a:off x="5710428" y="45171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Média</a:t>
            </a:r>
            <a:endParaRPr lang="en-US" sz="1200" dirty="0"/>
          </a:p>
        </p:txBody>
      </p:sp>
      <p:sp>
        <p:nvSpPr>
          <p:cNvPr id="35" name="Coluna Resolvido"/>
          <p:cNvSpPr txBox="1"/>
          <p:nvPr/>
        </p:nvSpPr>
        <p:spPr>
          <a:xfrm>
            <a:off x="7763256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Resolvido  2</a:t>
            </a:r>
            <a:endParaRPr lang="en-US" sz="1400" dirty="0"/>
          </a:p>
        </p:txBody>
      </p:sp>
      <p:sp>
        <p:nvSpPr>
          <p:cNvPr id="36" name="Fio"/>
          <p:cNvSpPr/>
          <p:nvPr/>
        </p:nvSpPr>
        <p:spPr>
          <a:xfrm>
            <a:off x="7763256" y="2423160"/>
            <a:ext cx="18288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37" name="Chamado Wi-Fi da sala de reuniões cai"/>
          <p:cNvSpPr txBox="1"/>
          <p:nvPr/>
        </p:nvSpPr>
        <p:spPr>
          <a:xfrm>
            <a:off x="7763256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Wi-Fi da sala de reuniões cai</a:t>
            </a:r>
            <a:endParaRPr lang="en-US" sz="1400" dirty="0"/>
          </a:p>
        </p:txBody>
      </p:sp>
      <p:sp>
        <p:nvSpPr>
          <p:cNvPr id="38" name="Solicitante Wi-Fi da sala de reuniões cai"/>
          <p:cNvSpPr txBox="1"/>
          <p:nvPr/>
        </p:nvSpPr>
        <p:spPr>
          <a:xfrm>
            <a:off x="7763256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Diego · Diretoria</a:t>
            </a:r>
            <a:endParaRPr lang="en-US" sz="1200" dirty="0"/>
          </a:p>
        </p:txBody>
      </p:sp>
      <p:sp>
        <p:nvSpPr>
          <p:cNvPr id="39" name="Prioridade Wi-Fi da sala de reuniões cai"/>
          <p:cNvSpPr txBox="1"/>
          <p:nvPr/>
        </p:nvSpPr>
        <p:spPr>
          <a:xfrm>
            <a:off x="7763256" y="33558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Alta</a:t>
            </a:r>
            <a:endParaRPr lang="en-US" sz="1200" dirty="0"/>
          </a:p>
        </p:txBody>
      </p:sp>
      <p:sp>
        <p:nvSpPr>
          <p:cNvPr id="40" name="Fio"/>
          <p:cNvSpPr/>
          <p:nvPr/>
        </p:nvSpPr>
        <p:spPr>
          <a:xfrm>
            <a:off x="7763256" y="3675888"/>
            <a:ext cx="182880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41" name="Chamado Monitor com listras"/>
          <p:cNvSpPr txBox="1"/>
          <p:nvPr/>
        </p:nvSpPr>
        <p:spPr>
          <a:xfrm>
            <a:off x="7763256" y="37673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Monitor com listras</a:t>
            </a:r>
            <a:endParaRPr lang="en-US" sz="1400" dirty="0"/>
          </a:p>
        </p:txBody>
      </p:sp>
      <p:sp>
        <p:nvSpPr>
          <p:cNvPr id="42" name="Solicitante Monitor com listras"/>
          <p:cNvSpPr txBox="1"/>
          <p:nvPr/>
        </p:nvSpPr>
        <p:spPr>
          <a:xfrm>
            <a:off x="7763256" y="4270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Roberto · Compras</a:t>
            </a:r>
            <a:endParaRPr lang="en-US" sz="1200" dirty="0"/>
          </a:p>
        </p:txBody>
      </p:sp>
      <p:sp>
        <p:nvSpPr>
          <p:cNvPr id="43" name="Prioridade Monitor com listras"/>
          <p:cNvSpPr txBox="1"/>
          <p:nvPr/>
        </p:nvSpPr>
        <p:spPr>
          <a:xfrm>
            <a:off x="7763256" y="45171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Média</a:t>
            </a:r>
            <a:endParaRPr lang="en-US" sz="1200" dirty="0"/>
          </a:p>
        </p:txBody>
      </p:sp>
      <p:sp>
        <p:nvSpPr>
          <p:cNvPr id="44" name="Coluna Fechado"/>
          <p:cNvSpPr txBox="1"/>
          <p:nvPr/>
        </p:nvSpPr>
        <p:spPr>
          <a:xfrm>
            <a:off x="9816084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Fechado  1</a:t>
            </a:r>
            <a:endParaRPr lang="en-US" sz="1400" dirty="0"/>
          </a:p>
        </p:txBody>
      </p:sp>
      <p:sp>
        <p:nvSpPr>
          <p:cNvPr id="45" name="Fio"/>
          <p:cNvSpPr/>
          <p:nvPr/>
        </p:nvSpPr>
        <p:spPr>
          <a:xfrm>
            <a:off x="9816084" y="2423160"/>
            <a:ext cx="18288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46" name="Chamado Senha do sistema de ponto"/>
          <p:cNvSpPr txBox="1"/>
          <p:nvPr/>
        </p:nvSpPr>
        <p:spPr>
          <a:xfrm>
            <a:off x="9816084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Senha do sistema de ponto</a:t>
            </a:r>
            <a:endParaRPr lang="en-US" sz="1400" dirty="0"/>
          </a:p>
        </p:txBody>
      </p:sp>
      <p:sp>
        <p:nvSpPr>
          <p:cNvPr id="47" name="Solicitante Senha do sistema de ponto"/>
          <p:cNvSpPr txBox="1"/>
          <p:nvPr/>
        </p:nvSpPr>
        <p:spPr>
          <a:xfrm>
            <a:off x="9816084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Aline · Atendimento</a:t>
            </a:r>
            <a:endParaRPr lang="en-US" sz="1200" dirty="0"/>
          </a:p>
        </p:txBody>
      </p:sp>
      <p:sp>
        <p:nvSpPr>
          <p:cNvPr id="48" name="Prioridade Senha do sistema de ponto"/>
          <p:cNvSpPr txBox="1"/>
          <p:nvPr/>
        </p:nvSpPr>
        <p:spPr>
          <a:xfrm>
            <a:off x="9816084" y="33558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Baixa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75488" y="629107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ção"/>
          <p:cNvSpPr txBox="1"/>
          <p:nvPr/>
        </p:nvSpPr>
        <p:spPr>
          <a:xfrm>
            <a:off x="54864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01  Contexto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Como o painel decide o que mostrar</a:t>
            </a:r>
            <a:endParaRPr lang="en-US" sz="2800" dirty="0"/>
          </a:p>
        </p:txBody>
      </p:sp>
      <p:sp>
        <p:nvSpPr>
          <p:cNvPr id="4" name="Resumo do slide"/>
          <p:cNvSpPr txBox="1"/>
          <p:nvPr/>
        </p:nvSpPr>
        <p:spPr>
          <a:xfrm>
            <a:off x="548640" y="356616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Toda a lógica do painel está em dashboardController.js: uma consulta traz os chamados e o resto é filtro e ordenação em JavaScript.</a:t>
            </a:r>
            <a:endParaRPr lang="en-US" sz="1400" dirty="0"/>
          </a:p>
        </p:txBody>
      </p:sp>
      <p:graphicFrame>
        <p:nvGraphicFramePr>
          <p:cNvPr id="7" name="Regras do pain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548640"/>
          <a:ext cx="798271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53309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Elemento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Regra no código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Ativos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status aberto ou em_andamento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Urgentes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ativos com prioridade alta ou crítica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Sem responsável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ativos com o campo responsável vazio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Resolvidos em 7 dias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resolvidoEm dentro dos últimos 7 dias (inclui chamados fechados)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Ordem nas colunas ativas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prioridade, da crítica para a baixa; em empate, o mais antigo primeiro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Ordem nas outras colunas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 mais recente para o mais antigo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Limite por coluna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 cartões; acima disso, o link "Ver os N chamados" abre a lista já filtrada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Comentários no cartão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conta só as notas das pessoas; registros do sistema ficam de fora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75488" y="629107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ção"/>
          <p:cNvSpPr txBox="1"/>
          <p:nvPr/>
        </p:nvSpPr>
        <p:spPr>
          <a:xfrm>
            <a:off x="54864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02  Fundamentos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Tecnologias</a:t>
            </a:r>
            <a:endParaRPr lang="en-US" sz="2800" dirty="0"/>
          </a:p>
        </p:txBody>
      </p:sp>
      <p:sp>
        <p:nvSpPr>
          <p:cNvPr id="4" name="Resumo do slide"/>
          <p:cNvSpPr txBox="1"/>
          <p:nvPr/>
        </p:nvSpPr>
        <p:spPr>
          <a:xfrm>
            <a:off x="548640" y="356616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Sete peças, uma linguagem. Tudo roda em um único processo Node, sem serviços externos para instalar.</a:t>
            </a:r>
            <a:endParaRPr lang="en-US" sz="1400" dirty="0"/>
          </a:p>
        </p:txBody>
      </p:sp>
      <p:graphicFrame>
        <p:nvGraphicFramePr>
          <p:cNvPr id="8" name="Tecnologi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548640"/>
          <a:ext cx="798271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474720"/>
                <a:gridCol w="277063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Tecnologia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Papel no projeto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Onde aparece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Node.js 18+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Executa JavaScript no servidor; roda o app e o script de seed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server.js, seeds/seed.js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Express 4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Servidor HTTP, roteamento e middlewares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app.js, routes/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EJS 3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Templates HTML com dados do servidor; escapa o texto por padrão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views/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Sequelize 6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ORM: models, validações, associações e consultas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models/, controllers/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SQLite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Banco em um único arquivo, sem servidor para instalar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data/chamados.sqlite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CSS puro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Estilo e layout responsivo, sem framework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public/css/style.css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JS do navegador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Lembra o nome digitado, usando localStorage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public/js/app.js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75488" y="629107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ção"/>
          <p:cNvSpPr txBox="1"/>
          <p:nvPr/>
        </p:nvSpPr>
        <p:spPr>
          <a:xfrm>
            <a:off x="54864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02  Fundamentos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MVC: três camadas</a:t>
            </a:r>
            <a:endParaRPr lang="en-US" sz="2800" dirty="0"/>
          </a:p>
        </p:txBody>
      </p:sp>
      <p:sp>
        <p:nvSpPr>
          <p:cNvPr id="4" name="Resumo do slide"/>
          <p:cNvSpPr txBox="1"/>
          <p:nvPr/>
        </p:nvSpPr>
        <p:spPr>
          <a:xfrm>
            <a:off x="548640" y="356616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Cada arquivo do projeto pertence a uma camada. A separação permite mudar o banco, as telas ou as regras sem reescrever o resto.</a:t>
            </a:r>
            <a:endParaRPr lang="en-US" sz="1400" dirty="0"/>
          </a:p>
        </p:txBody>
      </p:sp>
      <p:sp>
        <p:nvSpPr>
          <p:cNvPr id="5" name="Fio"/>
          <p:cNvSpPr/>
          <p:nvPr/>
        </p:nvSpPr>
        <p:spPr>
          <a:xfrm>
            <a:off x="3657600" y="548640"/>
            <a:ext cx="25146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6" name="Letra M"/>
          <p:cNvSpPr txBox="1"/>
          <p:nvPr/>
        </p:nvSpPr>
        <p:spPr>
          <a:xfrm>
            <a:off x="3657600" y="54864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M</a:t>
            </a:r>
            <a:endParaRPr lang="en-US" sz="8000" dirty="0"/>
          </a:p>
        </p:txBody>
      </p:sp>
      <p:sp>
        <p:nvSpPr>
          <p:cNvPr id="7" name="Nome Model"/>
          <p:cNvSpPr txBox="1"/>
          <p:nvPr/>
        </p:nvSpPr>
        <p:spPr>
          <a:xfrm>
            <a:off x="3657600" y="1783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Model</a:t>
            </a:r>
            <a:endParaRPr lang="en-US" sz="2000" dirty="0"/>
          </a:p>
        </p:txBody>
      </p:sp>
      <p:sp>
        <p:nvSpPr>
          <p:cNvPr id="8" name="Responsabilidade Model"/>
          <p:cNvSpPr txBox="1"/>
          <p:nvPr/>
        </p:nvSpPr>
        <p:spPr>
          <a:xfrm>
            <a:off x="3657600" y="21945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Representa os dados e as regras do negócio.</a:t>
            </a:r>
            <a:endParaRPr lang="en-US" sz="1400" dirty="0"/>
          </a:p>
        </p:txBody>
      </p:sp>
      <p:sp>
        <p:nvSpPr>
          <p:cNvPr id="9" name="Rótulo faz Model"/>
          <p:cNvSpPr txBox="1"/>
          <p:nvPr/>
        </p:nvSpPr>
        <p:spPr>
          <a:xfrm>
            <a:off x="3657600" y="28346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Faz</a:t>
            </a:r>
            <a:endParaRPr lang="en-US" sz="1200" dirty="0"/>
          </a:p>
        </p:txBody>
      </p:sp>
      <p:sp>
        <p:nvSpPr>
          <p:cNvPr id="10" name="Faz Model"/>
          <p:cNvSpPr txBox="1"/>
          <p:nvPr/>
        </p:nvSpPr>
        <p:spPr>
          <a:xfrm>
            <a:off x="3657600" y="306324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Define campos e tipos; valida os valores; relaciona chamado e comentário; preenche resolvidoEm.</a:t>
            </a:r>
            <a:endParaRPr lang="en-US" sz="1400" dirty="0"/>
          </a:p>
        </p:txBody>
      </p:sp>
      <p:sp>
        <p:nvSpPr>
          <p:cNvPr id="11" name="Rótulo não faz Model"/>
          <p:cNvSpPr txBox="1"/>
          <p:nvPr/>
        </p:nvSpPr>
        <p:spPr>
          <a:xfrm>
            <a:off x="3657600" y="43434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Não faz</a:t>
            </a:r>
            <a:endParaRPr lang="en-US" sz="1200" dirty="0"/>
          </a:p>
        </p:txBody>
      </p:sp>
      <p:sp>
        <p:nvSpPr>
          <p:cNvPr id="12" name="Não faz Model"/>
          <p:cNvSpPr txBox="1"/>
          <p:nvPr/>
        </p:nvSpPr>
        <p:spPr>
          <a:xfrm>
            <a:off x="3657600" y="45720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Gerar HTML nem ler a requisição.</a:t>
            </a:r>
            <a:endParaRPr lang="en-US" sz="1400" dirty="0"/>
          </a:p>
        </p:txBody>
      </p:sp>
      <p:sp>
        <p:nvSpPr>
          <p:cNvPr id="13" name="Arquivos Model"/>
          <p:cNvSpPr txBox="1"/>
          <p:nvPr/>
        </p:nvSpPr>
        <p:spPr>
          <a:xfrm>
            <a:off x="3657600" y="51663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chamado.js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comentario.js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index.js</a:t>
            </a:r>
            <a:endParaRPr lang="en-US" sz="1200" dirty="0"/>
          </a:p>
        </p:txBody>
      </p:sp>
      <p:sp>
        <p:nvSpPr>
          <p:cNvPr id="14" name="Fio"/>
          <p:cNvSpPr/>
          <p:nvPr/>
        </p:nvSpPr>
        <p:spPr>
          <a:xfrm>
            <a:off x="6391656" y="548640"/>
            <a:ext cx="25146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15" name="Letra V"/>
          <p:cNvSpPr txBox="1"/>
          <p:nvPr/>
        </p:nvSpPr>
        <p:spPr>
          <a:xfrm>
            <a:off x="6391656" y="54864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V</a:t>
            </a:r>
            <a:endParaRPr lang="en-US" sz="8000" dirty="0"/>
          </a:p>
        </p:txBody>
      </p:sp>
      <p:sp>
        <p:nvSpPr>
          <p:cNvPr id="16" name="Nome View"/>
          <p:cNvSpPr txBox="1"/>
          <p:nvPr/>
        </p:nvSpPr>
        <p:spPr>
          <a:xfrm>
            <a:off x="6391656" y="1783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View</a:t>
            </a:r>
            <a:endParaRPr lang="en-US" sz="2000" dirty="0"/>
          </a:p>
        </p:txBody>
      </p:sp>
      <p:sp>
        <p:nvSpPr>
          <p:cNvPr id="17" name="Responsabilidade View"/>
          <p:cNvSpPr txBox="1"/>
          <p:nvPr/>
        </p:nvSpPr>
        <p:spPr>
          <a:xfrm>
            <a:off x="6391656" y="21945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Apresenta os dados para a pessoa.</a:t>
            </a:r>
            <a:endParaRPr lang="en-US" sz="1400" dirty="0"/>
          </a:p>
        </p:txBody>
      </p:sp>
      <p:sp>
        <p:nvSpPr>
          <p:cNvPr id="18" name="Rótulo faz View"/>
          <p:cNvSpPr txBox="1"/>
          <p:nvPr/>
        </p:nvSpPr>
        <p:spPr>
          <a:xfrm>
            <a:off x="6391656" y="28346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Faz</a:t>
            </a:r>
            <a:endParaRPr lang="en-US" sz="1200" dirty="0"/>
          </a:p>
        </p:txBody>
      </p:sp>
      <p:sp>
        <p:nvSpPr>
          <p:cNvPr id="19" name="Faz View"/>
          <p:cNvSpPr txBox="1"/>
          <p:nvPr/>
        </p:nvSpPr>
        <p:spPr>
          <a:xfrm>
            <a:off x="6391656" y="306324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Monta o HTML com EJS; reaproveita cabeçalho, rodapé e cartão; escapa o texto das variáveis; mostra avisos e erros.</a:t>
            </a:r>
            <a:endParaRPr lang="en-US" sz="1400" dirty="0"/>
          </a:p>
        </p:txBody>
      </p:sp>
      <p:sp>
        <p:nvSpPr>
          <p:cNvPr id="20" name="Rótulo não faz View"/>
          <p:cNvSpPr txBox="1"/>
          <p:nvPr/>
        </p:nvSpPr>
        <p:spPr>
          <a:xfrm>
            <a:off x="6391656" y="43434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Não faz</a:t>
            </a:r>
            <a:endParaRPr lang="en-US" sz="1200" dirty="0"/>
          </a:p>
        </p:txBody>
      </p:sp>
      <p:sp>
        <p:nvSpPr>
          <p:cNvPr id="21" name="Não faz View"/>
          <p:cNvSpPr txBox="1"/>
          <p:nvPr/>
        </p:nvSpPr>
        <p:spPr>
          <a:xfrm>
            <a:off x="6391656" y="45720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Consultar o banco nem decidir regras.</a:t>
            </a:r>
            <a:endParaRPr lang="en-US" sz="1400" dirty="0"/>
          </a:p>
        </p:txBody>
      </p:sp>
      <p:sp>
        <p:nvSpPr>
          <p:cNvPr id="22" name="Arquivos View"/>
          <p:cNvSpPr txBox="1"/>
          <p:nvPr/>
        </p:nvSpPr>
        <p:spPr>
          <a:xfrm>
            <a:off x="6391656" y="51663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dashboard.ejs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chamados/*.ejs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partials/*.ejs</a:t>
            </a:r>
            <a:endParaRPr lang="en-US" sz="1200" dirty="0"/>
          </a:p>
        </p:txBody>
      </p:sp>
      <p:sp>
        <p:nvSpPr>
          <p:cNvPr id="23" name="Fio"/>
          <p:cNvSpPr/>
          <p:nvPr/>
        </p:nvSpPr>
        <p:spPr>
          <a:xfrm>
            <a:off x="9125712" y="548640"/>
            <a:ext cx="25146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24" name="Letra C"/>
          <p:cNvSpPr txBox="1"/>
          <p:nvPr/>
        </p:nvSpPr>
        <p:spPr>
          <a:xfrm>
            <a:off x="9125712" y="54864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C</a:t>
            </a:r>
            <a:endParaRPr lang="en-US" sz="8000" dirty="0"/>
          </a:p>
        </p:txBody>
      </p:sp>
      <p:sp>
        <p:nvSpPr>
          <p:cNvPr id="25" name="Nome Controller"/>
          <p:cNvSpPr txBox="1"/>
          <p:nvPr/>
        </p:nvSpPr>
        <p:spPr>
          <a:xfrm>
            <a:off x="9125712" y="1783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Controller</a:t>
            </a:r>
            <a:endParaRPr lang="en-US" sz="2000" dirty="0"/>
          </a:p>
        </p:txBody>
      </p:sp>
      <p:sp>
        <p:nvSpPr>
          <p:cNvPr id="26" name="Responsabilidade Controller"/>
          <p:cNvSpPr txBox="1"/>
          <p:nvPr/>
        </p:nvSpPr>
        <p:spPr>
          <a:xfrm>
            <a:off x="9125712" y="21945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Coordena: recebe o pedido e escolhe a resposta.</a:t>
            </a:r>
            <a:endParaRPr lang="en-US" sz="1400" dirty="0"/>
          </a:p>
        </p:txBody>
      </p:sp>
      <p:sp>
        <p:nvSpPr>
          <p:cNvPr id="27" name="Rótulo faz Controller"/>
          <p:cNvSpPr txBox="1"/>
          <p:nvPr/>
        </p:nvSpPr>
        <p:spPr>
          <a:xfrm>
            <a:off x="9125712" y="28346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Faz</a:t>
            </a:r>
            <a:endParaRPr lang="en-US" sz="1200" dirty="0"/>
          </a:p>
        </p:txBody>
      </p:sp>
      <p:sp>
        <p:nvSpPr>
          <p:cNvPr id="28" name="Faz Controller"/>
          <p:cNvSpPr txBox="1"/>
          <p:nvPr/>
        </p:nvSpPr>
        <p:spPr>
          <a:xfrm>
            <a:off x="9125712" y="306324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Lê params, query e body; chama os models; escolhe render ou redirect; trata os erros de validação.</a:t>
            </a:r>
            <a:endParaRPr lang="en-US" sz="1400" dirty="0"/>
          </a:p>
        </p:txBody>
      </p:sp>
      <p:sp>
        <p:nvSpPr>
          <p:cNvPr id="29" name="Rótulo não faz Controller"/>
          <p:cNvSpPr txBox="1"/>
          <p:nvPr/>
        </p:nvSpPr>
        <p:spPr>
          <a:xfrm>
            <a:off x="9125712" y="43434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Não faz</a:t>
            </a:r>
            <a:endParaRPr lang="en-US" sz="1200" dirty="0"/>
          </a:p>
        </p:txBody>
      </p:sp>
      <p:sp>
        <p:nvSpPr>
          <p:cNvPr id="30" name="Não faz Controller"/>
          <p:cNvSpPr txBox="1"/>
          <p:nvPr/>
        </p:nvSpPr>
        <p:spPr>
          <a:xfrm>
            <a:off x="9125712" y="45720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Guardar regras de validação nem montar HTML.</a:t>
            </a:r>
            <a:endParaRPr lang="en-US" sz="1400" dirty="0"/>
          </a:p>
        </p:txBody>
      </p:sp>
      <p:sp>
        <p:nvSpPr>
          <p:cNvPr id="31" name="Arquivos Controller"/>
          <p:cNvSpPr txBox="1"/>
          <p:nvPr/>
        </p:nvSpPr>
        <p:spPr>
          <a:xfrm>
            <a:off x="9125712" y="51663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dashboardController.js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chamadosController.js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comentariosController.js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75488" y="629107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ção"/>
          <p:cNvSpPr txBox="1"/>
          <p:nvPr/>
        </p:nvSpPr>
        <p:spPr>
          <a:xfrm>
            <a:off x="54864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02  Fundamentos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Do clique ao banco: abrir um chamado</a:t>
            </a:r>
            <a:endParaRPr lang="en-US" sz="2800" dirty="0"/>
          </a:p>
        </p:txBody>
      </p:sp>
      <p:sp>
        <p:nvSpPr>
          <p:cNvPr id="4" name="Resumo do slide"/>
          <p:cNvSpPr txBox="1"/>
          <p:nvPr/>
        </p:nvSpPr>
        <p:spPr>
          <a:xfrm>
            <a:off x="548640" y="356616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Entender este caminho é entender o projeto inteiro. As outras telas repetem o mesmo desenho com pequenas variações.</a:t>
            </a:r>
            <a:endParaRPr lang="en-US" sz="1400" dirty="0"/>
          </a:p>
        </p:txBody>
      </p:sp>
      <p:sp>
        <p:nvSpPr>
          <p:cNvPr id="5" name="Fio"/>
          <p:cNvSpPr/>
          <p:nvPr/>
        </p:nvSpPr>
        <p:spPr>
          <a:xfrm>
            <a:off x="3657600" y="548640"/>
            <a:ext cx="798271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6" name="Número 1"/>
          <p:cNvSpPr txBox="1"/>
          <p:nvPr/>
        </p:nvSpPr>
        <p:spPr>
          <a:xfrm>
            <a:off x="3657600" y="6583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Título Navegador"/>
          <p:cNvSpPr txBox="1"/>
          <p:nvPr/>
        </p:nvSpPr>
        <p:spPr>
          <a:xfrm>
            <a:off x="4297680" y="70408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Navegador</a:t>
            </a:r>
            <a:endParaRPr lang="en-US" sz="1600" dirty="0"/>
          </a:p>
        </p:txBody>
      </p:sp>
      <p:sp>
        <p:nvSpPr>
          <p:cNvPr id="8" name="Detalhe Navegador"/>
          <p:cNvSpPr txBox="1"/>
          <p:nvPr/>
        </p:nvSpPr>
        <p:spPr>
          <a:xfrm>
            <a:off x="5806440" y="704088"/>
            <a:ext cx="3593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Envia POST /chamados com os campos do formulário codificados como urlencoded.</a:t>
            </a:r>
            <a:endParaRPr lang="en-US" sz="1400" dirty="0"/>
          </a:p>
        </p:txBody>
      </p:sp>
      <p:sp>
        <p:nvSpPr>
          <p:cNvPr id="9" name="Arquivo Navegador"/>
          <p:cNvSpPr txBox="1"/>
          <p:nvPr/>
        </p:nvSpPr>
        <p:spPr>
          <a:xfrm>
            <a:off x="9582912" y="722376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chamados/form.ejs</a:t>
            </a:r>
            <a:endParaRPr lang="en-US" sz="1200" dirty="0"/>
          </a:p>
        </p:txBody>
      </p:sp>
      <p:sp>
        <p:nvSpPr>
          <p:cNvPr id="10" name="Fio"/>
          <p:cNvSpPr/>
          <p:nvPr/>
        </p:nvSpPr>
        <p:spPr>
          <a:xfrm>
            <a:off x="3657600" y="1463040"/>
            <a:ext cx="7982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1" name="Número 2"/>
          <p:cNvSpPr txBox="1"/>
          <p:nvPr/>
        </p:nvSpPr>
        <p:spPr>
          <a:xfrm>
            <a:off x="3657600" y="15727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</a:t>
            </a:r>
            <a:endParaRPr lang="en-US" sz="2800" dirty="0"/>
          </a:p>
        </p:txBody>
      </p:sp>
      <p:sp>
        <p:nvSpPr>
          <p:cNvPr id="12" name="Título Express"/>
          <p:cNvSpPr txBox="1"/>
          <p:nvPr/>
        </p:nvSpPr>
        <p:spPr>
          <a:xfrm>
            <a:off x="4297680" y="161848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Express</a:t>
            </a:r>
            <a:endParaRPr lang="en-US" sz="1600" dirty="0"/>
          </a:p>
        </p:txBody>
      </p:sp>
      <p:sp>
        <p:nvSpPr>
          <p:cNvPr id="13" name="Detalhe Express"/>
          <p:cNvSpPr txBox="1"/>
          <p:nvPr/>
        </p:nvSpPr>
        <p:spPr>
          <a:xfrm>
            <a:off x="5806440" y="1618488"/>
            <a:ext cx="3593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express.urlencoded preenche req.body; o roteador de /chamados casa com POST /.</a:t>
            </a:r>
            <a:endParaRPr lang="en-US" sz="1400" dirty="0"/>
          </a:p>
        </p:txBody>
      </p:sp>
      <p:sp>
        <p:nvSpPr>
          <p:cNvPr id="14" name="Arquivo Express"/>
          <p:cNvSpPr txBox="1"/>
          <p:nvPr/>
        </p:nvSpPr>
        <p:spPr>
          <a:xfrm>
            <a:off x="9582912" y="1636776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routes/chamados.js</a:t>
            </a:r>
            <a:endParaRPr lang="en-US" sz="1200" dirty="0"/>
          </a:p>
        </p:txBody>
      </p:sp>
      <p:sp>
        <p:nvSpPr>
          <p:cNvPr id="15" name="Fio"/>
          <p:cNvSpPr/>
          <p:nvPr/>
        </p:nvSpPr>
        <p:spPr>
          <a:xfrm>
            <a:off x="3657600" y="2377440"/>
            <a:ext cx="7982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6" name="Número 3"/>
          <p:cNvSpPr txBox="1"/>
          <p:nvPr/>
        </p:nvSpPr>
        <p:spPr>
          <a:xfrm>
            <a:off x="3657600" y="24871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</a:t>
            </a:r>
            <a:endParaRPr lang="en-US" sz="2800" dirty="0"/>
          </a:p>
        </p:txBody>
      </p:sp>
      <p:sp>
        <p:nvSpPr>
          <p:cNvPr id="17" name="Título Controller"/>
          <p:cNvSpPr txBox="1"/>
          <p:nvPr/>
        </p:nvSpPr>
        <p:spPr>
          <a:xfrm>
            <a:off x="4297680" y="253288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Controller</a:t>
            </a:r>
            <a:endParaRPr lang="en-US" sz="1600" dirty="0"/>
          </a:p>
        </p:txBody>
      </p:sp>
      <p:sp>
        <p:nvSpPr>
          <p:cNvPr id="18" name="Detalhe Controller"/>
          <p:cNvSpPr txBox="1"/>
          <p:nvPr/>
        </p:nvSpPr>
        <p:spPr>
          <a:xfrm>
            <a:off x="5806440" y="2532888"/>
            <a:ext cx="3593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Escolhe só os campos permitidos, aplica trim e troca texto vazio por null.</a:t>
            </a:r>
            <a:endParaRPr lang="en-US" sz="1400" dirty="0"/>
          </a:p>
        </p:txBody>
      </p:sp>
      <p:sp>
        <p:nvSpPr>
          <p:cNvPr id="19" name="Arquivo Controller"/>
          <p:cNvSpPr txBox="1"/>
          <p:nvPr/>
        </p:nvSpPr>
        <p:spPr>
          <a:xfrm>
            <a:off x="9582912" y="2551176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chamadosController.js</a:t>
            </a:r>
            <a:endParaRPr lang="en-US" sz="1200" dirty="0"/>
          </a:p>
        </p:txBody>
      </p:sp>
      <p:sp>
        <p:nvSpPr>
          <p:cNvPr id="20" name="Fio"/>
          <p:cNvSpPr/>
          <p:nvPr/>
        </p:nvSpPr>
        <p:spPr>
          <a:xfrm>
            <a:off x="3657600" y="3291840"/>
            <a:ext cx="7982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1" name="Número 4"/>
          <p:cNvSpPr txBox="1"/>
          <p:nvPr/>
        </p:nvSpPr>
        <p:spPr>
          <a:xfrm>
            <a:off x="3657600" y="34015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4</a:t>
            </a:r>
            <a:endParaRPr lang="en-US" sz="2800" dirty="0"/>
          </a:p>
        </p:txBody>
      </p:sp>
      <p:sp>
        <p:nvSpPr>
          <p:cNvPr id="22" name="Título Model"/>
          <p:cNvSpPr txBox="1"/>
          <p:nvPr/>
        </p:nvSpPr>
        <p:spPr>
          <a:xfrm>
            <a:off x="4297680" y="344728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Model</a:t>
            </a:r>
            <a:endParaRPr lang="en-US" sz="1600" dirty="0"/>
          </a:p>
        </p:txBody>
      </p:sp>
      <p:sp>
        <p:nvSpPr>
          <p:cNvPr id="23" name="Detalhe Model"/>
          <p:cNvSpPr txBox="1"/>
          <p:nvPr/>
        </p:nvSpPr>
        <p:spPr>
          <a:xfrm>
            <a:off x="5806440" y="3447288"/>
            <a:ext cx="3593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Valida os campos, roda o hook beforeSave e executa o INSERT no SQLite.</a:t>
            </a:r>
            <a:endParaRPr lang="en-US" sz="1400" dirty="0"/>
          </a:p>
        </p:txBody>
      </p:sp>
      <p:sp>
        <p:nvSpPr>
          <p:cNvPr id="24" name="Arquivo Model"/>
          <p:cNvSpPr txBox="1"/>
          <p:nvPr/>
        </p:nvSpPr>
        <p:spPr>
          <a:xfrm>
            <a:off x="9582912" y="3465576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models/chamado.js</a:t>
            </a:r>
            <a:endParaRPr lang="en-US" sz="1200" dirty="0"/>
          </a:p>
        </p:txBody>
      </p:sp>
      <p:sp>
        <p:nvSpPr>
          <p:cNvPr id="25" name="Fio"/>
          <p:cNvSpPr/>
          <p:nvPr/>
        </p:nvSpPr>
        <p:spPr>
          <a:xfrm>
            <a:off x="3657600" y="4206240"/>
            <a:ext cx="7982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6" name="Número 5"/>
          <p:cNvSpPr txBox="1"/>
          <p:nvPr/>
        </p:nvSpPr>
        <p:spPr>
          <a:xfrm>
            <a:off x="3657600" y="43159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5</a:t>
            </a:r>
            <a:endParaRPr lang="en-US" sz="2800" dirty="0"/>
          </a:p>
        </p:txBody>
      </p:sp>
      <p:sp>
        <p:nvSpPr>
          <p:cNvPr id="27" name="Título Resposta"/>
          <p:cNvSpPr txBox="1"/>
          <p:nvPr/>
        </p:nvSpPr>
        <p:spPr>
          <a:xfrm>
            <a:off x="4297680" y="436168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Resposta</a:t>
            </a:r>
            <a:endParaRPr lang="en-US" sz="1600" dirty="0"/>
          </a:p>
        </p:txBody>
      </p:sp>
      <p:sp>
        <p:nvSpPr>
          <p:cNvPr id="28" name="Detalhe Resposta"/>
          <p:cNvSpPr txBox="1"/>
          <p:nvPr/>
        </p:nvSpPr>
        <p:spPr>
          <a:xfrm>
            <a:off x="5806440" y="4361688"/>
            <a:ext cx="3593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Sucesso: redirect para /chamados/:id?ok=criado. Erro: renderiza o formulário com status 422 e a lista de erros.</a:t>
            </a:r>
            <a:endParaRPr lang="en-US" sz="1400" dirty="0"/>
          </a:p>
        </p:txBody>
      </p:sp>
      <p:sp>
        <p:nvSpPr>
          <p:cNvPr id="29" name="Arquivo Resposta"/>
          <p:cNvSpPr txBox="1"/>
          <p:nvPr/>
        </p:nvSpPr>
        <p:spPr>
          <a:xfrm>
            <a:off x="9582912" y="4379976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show.ejs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form.ejs</a:t>
            </a:r>
            <a:endParaRPr lang="en-US" sz="1200" dirty="0"/>
          </a:p>
        </p:txBody>
      </p:sp>
      <p:sp>
        <p:nvSpPr>
          <p:cNvPr id="30" name="Fio"/>
          <p:cNvSpPr/>
          <p:nvPr/>
        </p:nvSpPr>
        <p:spPr>
          <a:xfrm>
            <a:off x="3657600" y="5120640"/>
            <a:ext cx="7982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31" name="Nota Post/Redirect/Get"/>
          <p:cNvSpPr txBox="1"/>
          <p:nvPr/>
        </p:nvSpPr>
        <p:spPr>
          <a:xfrm>
            <a:off x="3657600" y="5349240"/>
            <a:ext cx="7982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Post/Redirect/Get: o redirect evita reenviar o formulário quando a pessoa atualiza a página.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75488" y="629107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ção"/>
          <p:cNvSpPr txBox="1"/>
          <p:nvPr/>
        </p:nvSpPr>
        <p:spPr>
          <a:xfrm>
            <a:off x="54864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03  Estrutura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Estrutura de pastas</a:t>
            </a:r>
            <a:endParaRPr lang="en-US" sz="2800" dirty="0"/>
          </a:p>
        </p:txBody>
      </p:sp>
      <p:sp>
        <p:nvSpPr>
          <p:cNvPr id="4" name="Resumo do slide"/>
          <p:cNvSpPr txBox="1"/>
          <p:nvPr/>
        </p:nvSpPr>
        <p:spPr>
          <a:xfrm>
            <a:off x="548640" y="356616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A pasta data/ não vem no projeto: o SQLite a cria na primeira execução. Já public/ é servida direto ao navegador.</a:t>
            </a:r>
            <a:endParaRPr lang="en-US" sz="1400" dirty="0"/>
          </a:p>
        </p:txBody>
      </p:sp>
      <p:sp>
        <p:nvSpPr>
          <p:cNvPr id="5" name="Painel da árvore"/>
          <p:cNvSpPr/>
          <p:nvPr/>
        </p:nvSpPr>
        <p:spPr>
          <a:xfrm>
            <a:off x="3657600" y="548640"/>
            <a:ext cx="7982712" cy="4069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Árvore 1"/>
          <p:cNvSpPr txBox="1"/>
          <p:nvPr/>
        </p:nvSpPr>
        <p:spPr>
          <a:xfrm>
            <a:off x="3931920" y="731520"/>
            <a:ext cx="3657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chamados-ti/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package.json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css/style.css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js/app.js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chamados.sqlite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server.js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constants.js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database.js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chamado.js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comentario.js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index.js</a:t>
            </a:r>
            <a:endParaRPr lang="en-US" sz="1200" dirty="0"/>
          </a:p>
        </p:txBody>
      </p:sp>
      <p:sp>
        <p:nvSpPr>
          <p:cNvPr id="7" name="Árvore 2"/>
          <p:cNvSpPr txBox="1"/>
          <p:nvPr/>
        </p:nvSpPr>
        <p:spPr>
          <a:xfrm>
            <a:off x="7772400" y="731520"/>
            <a:ext cx="3657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src/ (continuação)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controllers/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dashboardController.js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chamadosController.js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comentariosController.js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routes/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index.js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chamados.js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services/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historico.js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utils/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asyncHandler.js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formatadores.js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views/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partials/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chamados/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dashboard.ejs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erro.ejs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seeds/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seed.js</a:t>
            </a:r>
            <a:endParaRPr lang="en-US" sz="1200" dirty="0"/>
          </a:p>
        </p:txBody>
      </p:sp>
      <p:sp>
        <p:nvSpPr>
          <p:cNvPr id="8" name="Fio"/>
          <p:cNvSpPr/>
          <p:nvPr/>
        </p:nvSpPr>
        <p:spPr>
          <a:xfrm>
            <a:off x="3657600" y="4846320"/>
            <a:ext cx="18288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9" name="Letra models/"/>
          <p:cNvSpPr txBox="1"/>
          <p:nvPr/>
        </p:nvSpPr>
        <p:spPr>
          <a:xfrm>
            <a:off x="3657600" y="49194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M</a:t>
            </a:r>
            <a:endParaRPr lang="en-US" sz="2800" dirty="0"/>
          </a:p>
        </p:txBody>
      </p:sp>
      <p:sp>
        <p:nvSpPr>
          <p:cNvPr id="10" name="Pasta models/"/>
          <p:cNvSpPr txBox="1"/>
          <p:nvPr/>
        </p:nvSpPr>
        <p:spPr>
          <a:xfrm>
            <a:off x="3657600" y="5440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models/</a:t>
            </a:r>
            <a:endParaRPr lang="en-US" sz="1400" dirty="0"/>
          </a:p>
        </p:txBody>
      </p:sp>
      <p:sp>
        <p:nvSpPr>
          <p:cNvPr id="11" name="Função models/"/>
          <p:cNvSpPr txBox="1"/>
          <p:nvPr/>
        </p:nvSpPr>
        <p:spPr>
          <a:xfrm>
            <a:off x="3657600" y="5806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dados e regras</a:t>
            </a:r>
            <a:endParaRPr lang="en-US" sz="1200" dirty="0"/>
          </a:p>
        </p:txBody>
      </p:sp>
      <p:sp>
        <p:nvSpPr>
          <p:cNvPr id="12" name="Fio"/>
          <p:cNvSpPr/>
          <p:nvPr/>
        </p:nvSpPr>
        <p:spPr>
          <a:xfrm>
            <a:off x="5710428" y="4846320"/>
            <a:ext cx="18288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13" name="Letra views/"/>
          <p:cNvSpPr txBox="1"/>
          <p:nvPr/>
        </p:nvSpPr>
        <p:spPr>
          <a:xfrm>
            <a:off x="5710428" y="49194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V</a:t>
            </a:r>
            <a:endParaRPr lang="en-US" sz="2800" dirty="0"/>
          </a:p>
        </p:txBody>
      </p:sp>
      <p:sp>
        <p:nvSpPr>
          <p:cNvPr id="14" name="Pasta views/"/>
          <p:cNvSpPr txBox="1"/>
          <p:nvPr/>
        </p:nvSpPr>
        <p:spPr>
          <a:xfrm>
            <a:off x="5710428" y="5440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views/</a:t>
            </a:r>
            <a:endParaRPr lang="en-US" sz="1400" dirty="0"/>
          </a:p>
        </p:txBody>
      </p:sp>
      <p:sp>
        <p:nvSpPr>
          <p:cNvPr id="15" name="Função views/"/>
          <p:cNvSpPr txBox="1"/>
          <p:nvPr/>
        </p:nvSpPr>
        <p:spPr>
          <a:xfrm>
            <a:off x="5710428" y="5806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telas em EJS</a:t>
            </a:r>
            <a:endParaRPr lang="en-US" sz="1200" dirty="0"/>
          </a:p>
        </p:txBody>
      </p:sp>
      <p:sp>
        <p:nvSpPr>
          <p:cNvPr id="16" name="Fio"/>
          <p:cNvSpPr/>
          <p:nvPr/>
        </p:nvSpPr>
        <p:spPr>
          <a:xfrm>
            <a:off x="7763256" y="4846320"/>
            <a:ext cx="18288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17" name="Letra controllers/ e routes/"/>
          <p:cNvSpPr txBox="1"/>
          <p:nvPr/>
        </p:nvSpPr>
        <p:spPr>
          <a:xfrm>
            <a:off x="7763256" y="49194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C</a:t>
            </a:r>
            <a:endParaRPr lang="en-US" sz="2800" dirty="0"/>
          </a:p>
        </p:txBody>
      </p:sp>
      <p:sp>
        <p:nvSpPr>
          <p:cNvPr id="18" name="Pasta controllers/ e routes/"/>
          <p:cNvSpPr txBox="1"/>
          <p:nvPr/>
        </p:nvSpPr>
        <p:spPr>
          <a:xfrm>
            <a:off x="7763256" y="5440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controllers/ e routes/</a:t>
            </a:r>
            <a:endParaRPr lang="en-US" sz="1400" dirty="0"/>
          </a:p>
        </p:txBody>
      </p:sp>
      <p:sp>
        <p:nvSpPr>
          <p:cNvPr id="19" name="Função controllers/ e routes/"/>
          <p:cNvSpPr txBox="1"/>
          <p:nvPr/>
        </p:nvSpPr>
        <p:spPr>
          <a:xfrm>
            <a:off x="7763256" y="5806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o que fazer em cada URL</a:t>
            </a:r>
            <a:endParaRPr lang="en-US" sz="1200" dirty="0"/>
          </a:p>
        </p:txBody>
      </p:sp>
      <p:sp>
        <p:nvSpPr>
          <p:cNvPr id="20" name="Fio"/>
          <p:cNvSpPr/>
          <p:nvPr/>
        </p:nvSpPr>
        <p:spPr>
          <a:xfrm>
            <a:off x="9816084" y="4846320"/>
            <a:ext cx="18288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21" name="Letra Apoio"/>
          <p:cNvSpPr txBox="1"/>
          <p:nvPr/>
        </p:nvSpPr>
        <p:spPr>
          <a:xfrm>
            <a:off x="9816084" y="49194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+</a:t>
            </a:r>
            <a:endParaRPr lang="en-US" sz="2800" dirty="0"/>
          </a:p>
        </p:txBody>
      </p:sp>
      <p:sp>
        <p:nvSpPr>
          <p:cNvPr id="22" name="Pasta Apoio"/>
          <p:cNvSpPr txBox="1"/>
          <p:nvPr/>
        </p:nvSpPr>
        <p:spPr>
          <a:xfrm>
            <a:off x="9816084" y="5440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Apoio</a:t>
            </a:r>
            <a:endParaRPr lang="en-US" sz="1400" dirty="0"/>
          </a:p>
        </p:txBody>
      </p:sp>
      <p:sp>
        <p:nvSpPr>
          <p:cNvPr id="23" name="Função Apoio"/>
          <p:cNvSpPr txBox="1"/>
          <p:nvPr/>
        </p:nvSpPr>
        <p:spPr>
          <a:xfrm>
            <a:off x="9816084" y="5806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config/, services/, utils/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75488" y="629107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ção"/>
          <p:cNvSpPr txBox="1"/>
          <p:nvPr/>
        </p:nvSpPr>
        <p:spPr>
          <a:xfrm>
            <a:off x="54864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03  Estrutura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Banco de dados: chamados</a:t>
            </a:r>
            <a:endParaRPr lang="en-US" sz="2800" dirty="0"/>
          </a:p>
        </p:txBody>
      </p:sp>
      <p:sp>
        <p:nvSpPr>
          <p:cNvPr id="4" name="Resumo do slide"/>
          <p:cNvSpPr txBox="1"/>
          <p:nvPr/>
        </p:nvSpPr>
        <p:spPr>
          <a:xfrm>
            <a:off x="548640" y="356616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Uma tabela, dez campos. As regras de validação ficam no próprio model, não no controller.</a:t>
            </a:r>
            <a:endParaRPr lang="en-US" sz="1400" dirty="0"/>
          </a:p>
        </p:txBody>
      </p:sp>
      <p:graphicFrame>
        <p:nvGraphicFramePr>
          <p:cNvPr id="12" name="Campos do chamad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548640"/>
          <a:ext cx="798271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414223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Campo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Tipo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Regra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titulo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STRING(150)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obrigatório, de 3 a 150 caracteres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descricao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obrigatória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solicitante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STRING(100)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obrigatório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setor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STRING(100)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opcional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categoria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STRING(40)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uma de 6 opções; padrão Outros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prioridade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STRING(10)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baixa, media, alta ou critica; padrão media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STRING(20)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aberto, em_andamento, resolvido, fechado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responsavel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STRING(100)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opcional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resolvidoEm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preenchido pelo hook ao resolver ou fechar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codigo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VIRTUAL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calculado a partir do id: CH-0001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id, createdAt, updatedAt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automáticos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criados pelo Sequelize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75488" y="629107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ção"/>
          <p:cNvSpPr txBox="1"/>
          <p:nvPr/>
        </p:nvSpPr>
        <p:spPr>
          <a:xfrm>
            <a:off x="54864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03  Estrutura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Banco de dados: comentários e relação</a:t>
            </a:r>
            <a:endParaRPr lang="en-US" sz="2800" dirty="0"/>
          </a:p>
        </p:txBody>
      </p:sp>
      <p:sp>
        <p:nvSpPr>
          <p:cNvPr id="4" name="Resumo do slide"/>
          <p:cNvSpPr txBox="1"/>
          <p:nvPr/>
        </p:nvSpPr>
        <p:spPr>
          <a:xfrm>
            <a:off x="548640" y="356616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Um chamado tem muitos comentários (1 para N). O Sequelize cria a chave estrangeira e o método getComentarios().</a:t>
            </a:r>
            <a:endParaRPr lang="en-US" sz="1400" dirty="0"/>
          </a:p>
        </p:txBody>
      </p:sp>
      <p:graphicFrame>
        <p:nvGraphicFramePr>
          <p:cNvPr id="13" name="Campos do comentári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548640"/>
          <a:ext cx="798271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414223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Campo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Tipo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Regra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autor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STRING(80)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obrigatório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texto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obrigatório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tipo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STRING(10)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nota (pessoa) ou sistema (automático)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chamadoId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INTEGER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chave estrangeira, obrigatória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Painel de código"/>
          <p:cNvSpPr/>
          <p:nvPr/>
        </p:nvSpPr>
        <p:spPr>
          <a:xfrm>
            <a:off x="3657600" y="2788920"/>
            <a:ext cx="7982712" cy="16916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Código"/>
          <p:cNvSpPr txBox="1"/>
          <p:nvPr/>
        </p:nvSpPr>
        <p:spPr>
          <a:xfrm>
            <a:off x="3886200" y="2971800"/>
            <a:ext cx="75255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Chamado.hasMany(Comentario,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as: 'comentarios',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foreignKey: { name: 'chamadoId', allowNull: false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onDelete: 'CASCADE',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Comentario.belongsTo(Chamado, { as: 'chamado', foreignKey: 'chamadoId' });</a:t>
            </a:r>
            <a:endParaRPr lang="en-US" sz="1200" dirty="0"/>
          </a:p>
        </p:txBody>
      </p:sp>
      <p:sp>
        <p:nvSpPr>
          <p:cNvPr id="8" name="Fio"/>
          <p:cNvSpPr/>
          <p:nvPr/>
        </p:nvSpPr>
        <p:spPr>
          <a:xfrm>
            <a:off x="3657600" y="4754880"/>
            <a:ext cx="384048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9" name="Título Leitura"/>
          <p:cNvSpPr txBox="1"/>
          <p:nvPr/>
        </p:nvSpPr>
        <p:spPr>
          <a:xfrm>
            <a:off x="3657600" y="4864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Leitura</a:t>
            </a:r>
            <a:endParaRPr lang="en-US" sz="1600" dirty="0"/>
          </a:p>
        </p:txBody>
      </p:sp>
      <p:sp>
        <p:nvSpPr>
          <p:cNvPr id="10" name="Texto Leitura"/>
          <p:cNvSpPr txBox="1"/>
          <p:nvPr/>
        </p:nvSpPr>
        <p:spPr>
          <a:xfrm>
            <a:off x="3657600" y="5212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chamado.getComentarios() devolve o histórico em ordem de criação.</a:t>
            </a:r>
            <a:endParaRPr lang="en-US" sz="1400" dirty="0"/>
          </a:p>
        </p:txBody>
      </p:sp>
      <p:sp>
        <p:nvSpPr>
          <p:cNvPr id="11" name="Fio"/>
          <p:cNvSpPr/>
          <p:nvPr/>
        </p:nvSpPr>
        <p:spPr>
          <a:xfrm>
            <a:off x="7799832" y="4754880"/>
            <a:ext cx="384048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12" name="Título Exclusão"/>
          <p:cNvSpPr txBox="1"/>
          <p:nvPr/>
        </p:nvSpPr>
        <p:spPr>
          <a:xfrm>
            <a:off x="7799832" y="4864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Exclusão</a:t>
            </a:r>
            <a:endParaRPr lang="en-US" sz="1600" dirty="0"/>
          </a:p>
        </p:txBody>
      </p:sp>
      <p:sp>
        <p:nvSpPr>
          <p:cNvPr id="13" name="Texto Exclusão"/>
          <p:cNvSpPr txBox="1"/>
          <p:nvPr/>
        </p:nvSpPr>
        <p:spPr>
          <a:xfrm>
            <a:off x="7799832" y="5212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controller apaga os comentários e depois o chamado.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75488" y="629107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ção"/>
          <p:cNvSpPr txBox="1"/>
          <p:nvPr/>
        </p:nvSpPr>
        <p:spPr>
          <a:xfrm>
            <a:off x="54864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03  Estrutura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Rotas</a:t>
            </a:r>
            <a:endParaRPr lang="en-US" sz="2800" dirty="0"/>
          </a:p>
        </p:txBody>
      </p:sp>
      <p:sp>
        <p:nvSpPr>
          <p:cNvPr id="4" name="Resumo do slide"/>
          <p:cNvSpPr txBox="1"/>
          <p:nvPr/>
        </p:nvSpPr>
        <p:spPr>
          <a:xfrm>
            <a:off x="548640" y="356616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Dez rotas, só com GET e POST. Todas as rotas com :id passam antes por router.param, que carrega o chamado ou responde 404.</a:t>
            </a:r>
            <a:endParaRPr lang="en-US" sz="1400" dirty="0"/>
          </a:p>
        </p:txBody>
      </p:sp>
      <p:graphicFrame>
        <p:nvGraphicFramePr>
          <p:cNvPr id="14" name="Tabela de rot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548640"/>
          <a:ext cx="798271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2880360"/>
                <a:gridCol w="2103120"/>
                <a:gridCol w="21305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Método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Rota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Função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Resposta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GET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index (painel)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render do painel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GET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/chamados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index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render da lista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GET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/chamados/novo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novo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render do formulário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POST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/chamados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criar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redirect ao criar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GET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/chamados/:id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mostrar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render dos detalhes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GET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/chamados/:id/editar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editar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render do formulário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POST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/chamados/:id/editar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atualizar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redirect ao salvar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POST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/chamados/:id/andamento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atualizarAndamento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redirect ao salvar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POST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/chamados/:id/comentarios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criar (comentários)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redirect ao comentar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POST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/chamados/:id/excluir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excluir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redirect ao painel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Nota métodos"/>
          <p:cNvSpPr txBox="1"/>
          <p:nvPr/>
        </p:nvSpPr>
        <p:spPr>
          <a:xfrm>
            <a:off x="3657600" y="4937760"/>
            <a:ext cx="7982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Só GET e POST: formulários HTML não enviam PUT nem DELETE.</a:t>
            </a:r>
            <a:endParaRPr lang="en-US" sz="1400" dirty="0"/>
          </a:p>
        </p:txBody>
      </p:sp>
      <p:sp>
        <p:nvSpPr>
          <p:cNvPr id="7" name="Nota ordem"/>
          <p:cNvSpPr txBox="1"/>
          <p:nvPr/>
        </p:nvSpPr>
        <p:spPr>
          <a:xfrm>
            <a:off x="3657600" y="5303520"/>
            <a:ext cx="7982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/chamados/novo vem antes de /chamados/:id; do contrário o Express leria "novo" como um id.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75488" y="629107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ção"/>
          <p:cNvSpPr txBox="1"/>
          <p:nvPr/>
        </p:nvSpPr>
        <p:spPr>
          <a:xfrm>
            <a:off x="54864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03  Estrutura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Pipeline do Express</a:t>
            </a:r>
            <a:endParaRPr lang="en-US" sz="2800" dirty="0"/>
          </a:p>
        </p:txBody>
      </p:sp>
      <p:sp>
        <p:nvSpPr>
          <p:cNvPr id="4" name="Resumo do slide"/>
          <p:cNvSpPr txBox="1"/>
          <p:nvPr/>
        </p:nvSpPr>
        <p:spPr>
          <a:xfrm>
            <a:off x="548640" y="356616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A ordem em app.js importa: cada requisição atravessa os middlewares de cima para baixo até alguém responder.</a:t>
            </a:r>
            <a:endParaRPr lang="en-US" sz="1400" dirty="0"/>
          </a:p>
        </p:txBody>
      </p:sp>
      <p:sp>
        <p:nvSpPr>
          <p:cNvPr id="5" name="Fio"/>
          <p:cNvSpPr/>
          <p:nvPr/>
        </p:nvSpPr>
        <p:spPr>
          <a:xfrm>
            <a:off x="3657600" y="548640"/>
            <a:ext cx="798271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6" name="Número 1"/>
          <p:cNvSpPr txBox="1"/>
          <p:nvPr/>
        </p:nvSpPr>
        <p:spPr>
          <a:xfrm>
            <a:off x="3657600" y="6583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Título urlencoded"/>
          <p:cNvSpPr txBox="1"/>
          <p:nvPr/>
        </p:nvSpPr>
        <p:spPr>
          <a:xfrm>
            <a:off x="4206240" y="704088"/>
            <a:ext cx="1737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urlencoded</a:t>
            </a:r>
            <a:endParaRPr lang="en-US" sz="1600" dirty="0"/>
          </a:p>
        </p:txBody>
      </p:sp>
      <p:sp>
        <p:nvSpPr>
          <p:cNvPr id="8" name="Detalhe urlencoded"/>
          <p:cNvSpPr txBox="1"/>
          <p:nvPr/>
        </p:nvSpPr>
        <p:spPr>
          <a:xfrm>
            <a:off x="6126480" y="704088"/>
            <a:ext cx="5513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express.urlencoded lê o corpo dos formulários e o coloca em req.body.</a:t>
            </a:r>
            <a:endParaRPr lang="en-US" sz="1400" dirty="0"/>
          </a:p>
        </p:txBody>
      </p:sp>
      <p:sp>
        <p:nvSpPr>
          <p:cNvPr id="9" name="Fio"/>
          <p:cNvSpPr/>
          <p:nvPr/>
        </p:nvSpPr>
        <p:spPr>
          <a:xfrm>
            <a:off x="3657600" y="1298448"/>
            <a:ext cx="7982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0" name="Número 2"/>
          <p:cNvSpPr txBox="1"/>
          <p:nvPr/>
        </p:nvSpPr>
        <p:spPr>
          <a:xfrm>
            <a:off x="3657600" y="14081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</a:t>
            </a:r>
            <a:endParaRPr lang="en-US" sz="2800" dirty="0"/>
          </a:p>
        </p:txBody>
      </p:sp>
      <p:sp>
        <p:nvSpPr>
          <p:cNvPr id="11" name="Título static"/>
          <p:cNvSpPr txBox="1"/>
          <p:nvPr/>
        </p:nvSpPr>
        <p:spPr>
          <a:xfrm>
            <a:off x="4206240" y="1453896"/>
            <a:ext cx="1737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static</a:t>
            </a:r>
            <a:endParaRPr lang="en-US" sz="1600" dirty="0"/>
          </a:p>
        </p:txBody>
      </p:sp>
      <p:sp>
        <p:nvSpPr>
          <p:cNvPr id="12" name="Detalhe static"/>
          <p:cNvSpPr txBox="1"/>
          <p:nvPr/>
        </p:nvSpPr>
        <p:spPr>
          <a:xfrm>
            <a:off x="6126480" y="1453896"/>
            <a:ext cx="5513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express.static serve a pasta public/ (CSS e JS) antes das rotas.</a:t>
            </a:r>
            <a:endParaRPr lang="en-US" sz="1400" dirty="0"/>
          </a:p>
        </p:txBody>
      </p:sp>
      <p:sp>
        <p:nvSpPr>
          <p:cNvPr id="13" name="Fio"/>
          <p:cNvSpPr/>
          <p:nvPr/>
        </p:nvSpPr>
        <p:spPr>
          <a:xfrm>
            <a:off x="3657600" y="2048256"/>
            <a:ext cx="7982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4" name="Número 3"/>
          <p:cNvSpPr txBox="1"/>
          <p:nvPr/>
        </p:nvSpPr>
        <p:spPr>
          <a:xfrm>
            <a:off x="3657600" y="21579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</a:t>
            </a:r>
            <a:endParaRPr lang="en-US" sz="2800" dirty="0"/>
          </a:p>
        </p:txBody>
      </p:sp>
      <p:sp>
        <p:nvSpPr>
          <p:cNvPr id="15" name="Título Variáveis das views"/>
          <p:cNvSpPr txBox="1"/>
          <p:nvPr/>
        </p:nvSpPr>
        <p:spPr>
          <a:xfrm>
            <a:off x="4206240" y="2203704"/>
            <a:ext cx="1737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Variáveis das views</a:t>
            </a:r>
            <a:endParaRPr lang="en-US" sz="1600" dirty="0"/>
          </a:p>
        </p:txBody>
      </p:sp>
      <p:sp>
        <p:nvSpPr>
          <p:cNvPr id="16" name="Detalhe Variáveis das views"/>
          <p:cNvSpPr txBox="1"/>
          <p:nvPr/>
        </p:nvSpPr>
        <p:spPr>
          <a:xfrm>
            <a:off x="6126480" y="2203704"/>
            <a:ext cx="5513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Define res.locals: C (constantes), fmt (formatadores), caminho, aviso (?ok=) e erroGeral (?erro=).</a:t>
            </a:r>
            <a:endParaRPr lang="en-US" sz="1400" dirty="0"/>
          </a:p>
        </p:txBody>
      </p:sp>
      <p:sp>
        <p:nvSpPr>
          <p:cNvPr id="17" name="Fio"/>
          <p:cNvSpPr/>
          <p:nvPr/>
        </p:nvSpPr>
        <p:spPr>
          <a:xfrm>
            <a:off x="3657600" y="2798064"/>
            <a:ext cx="7982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8" name="Número 4"/>
          <p:cNvSpPr txBox="1"/>
          <p:nvPr/>
        </p:nvSpPr>
        <p:spPr>
          <a:xfrm>
            <a:off x="3657600" y="29077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ítulo Rotas"/>
          <p:cNvSpPr txBox="1"/>
          <p:nvPr/>
        </p:nvSpPr>
        <p:spPr>
          <a:xfrm>
            <a:off x="4206240" y="2953512"/>
            <a:ext cx="1737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Rotas</a:t>
            </a:r>
            <a:endParaRPr lang="en-US" sz="1600" dirty="0"/>
          </a:p>
        </p:txBody>
      </p:sp>
      <p:sp>
        <p:nvSpPr>
          <p:cNvPr id="20" name="Detalhe Rotas"/>
          <p:cNvSpPr txBox="1"/>
          <p:nvPr/>
        </p:nvSpPr>
        <p:spPr>
          <a:xfrm>
            <a:off x="6126480" y="2953512"/>
            <a:ext cx="5513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routes/index.js monta o painel e /chamados; router.param("id") carrega req.chamado.</a:t>
            </a:r>
            <a:endParaRPr lang="en-US" sz="1400" dirty="0"/>
          </a:p>
        </p:txBody>
      </p:sp>
      <p:sp>
        <p:nvSpPr>
          <p:cNvPr id="21" name="Fio"/>
          <p:cNvSpPr/>
          <p:nvPr/>
        </p:nvSpPr>
        <p:spPr>
          <a:xfrm>
            <a:off x="3657600" y="3547872"/>
            <a:ext cx="7982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2" name="Número 5"/>
          <p:cNvSpPr txBox="1"/>
          <p:nvPr/>
        </p:nvSpPr>
        <p:spPr>
          <a:xfrm>
            <a:off x="3657600" y="3657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5</a:t>
            </a:r>
            <a:endParaRPr lang="en-US" sz="2800" dirty="0"/>
          </a:p>
        </p:txBody>
      </p:sp>
      <p:sp>
        <p:nvSpPr>
          <p:cNvPr id="23" name="Título 404"/>
          <p:cNvSpPr txBox="1"/>
          <p:nvPr/>
        </p:nvSpPr>
        <p:spPr>
          <a:xfrm>
            <a:off x="4206240" y="3703320"/>
            <a:ext cx="1737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404</a:t>
            </a:r>
            <a:endParaRPr lang="en-US" sz="1600" dirty="0"/>
          </a:p>
        </p:txBody>
      </p:sp>
      <p:sp>
        <p:nvSpPr>
          <p:cNvPr id="24" name="Detalhe 404"/>
          <p:cNvSpPr txBox="1"/>
          <p:nvPr/>
        </p:nvSpPr>
        <p:spPr>
          <a:xfrm>
            <a:off x="6126480" y="3703320"/>
            <a:ext cx="5513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Qualquer URL sem rota vira um erro com status 404.</a:t>
            </a:r>
            <a:endParaRPr lang="en-US" sz="1400" dirty="0"/>
          </a:p>
        </p:txBody>
      </p:sp>
      <p:sp>
        <p:nvSpPr>
          <p:cNvPr id="25" name="Fio"/>
          <p:cNvSpPr/>
          <p:nvPr/>
        </p:nvSpPr>
        <p:spPr>
          <a:xfrm>
            <a:off x="3657600" y="4297680"/>
            <a:ext cx="7982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6" name="Número 6"/>
          <p:cNvSpPr txBox="1"/>
          <p:nvPr/>
        </p:nvSpPr>
        <p:spPr>
          <a:xfrm>
            <a:off x="3657600" y="44074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6</a:t>
            </a:r>
            <a:endParaRPr lang="en-US" sz="2800" dirty="0"/>
          </a:p>
        </p:txBody>
      </p:sp>
      <p:sp>
        <p:nvSpPr>
          <p:cNvPr id="27" name="Título Tratador de erros"/>
          <p:cNvSpPr txBox="1"/>
          <p:nvPr/>
        </p:nvSpPr>
        <p:spPr>
          <a:xfrm>
            <a:off x="4206240" y="4453128"/>
            <a:ext cx="1737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Tratador de erros</a:t>
            </a:r>
            <a:endParaRPr lang="en-US" sz="1600" dirty="0"/>
          </a:p>
        </p:txBody>
      </p:sp>
      <p:sp>
        <p:nvSpPr>
          <p:cNvPr id="28" name="Detalhe Tratador de erros"/>
          <p:cNvSpPr txBox="1"/>
          <p:nvPr/>
        </p:nvSpPr>
        <p:spPr>
          <a:xfrm>
            <a:off x="6126480" y="4453128"/>
            <a:ext cx="5513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Quatro argumentos (err, req, res, next); renderiza erro.ejs e registra no console só os erros 500.</a:t>
            </a:r>
            <a:endParaRPr lang="en-US" sz="1400" dirty="0"/>
          </a:p>
        </p:txBody>
      </p:sp>
      <p:sp>
        <p:nvSpPr>
          <p:cNvPr id="29" name="Fio"/>
          <p:cNvSpPr/>
          <p:nvPr/>
        </p:nvSpPr>
        <p:spPr>
          <a:xfrm>
            <a:off x="3657600" y="5047488"/>
            <a:ext cx="7982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30" name="Nota asyncHandler"/>
          <p:cNvSpPr txBox="1"/>
          <p:nvPr/>
        </p:nvSpPr>
        <p:spPr>
          <a:xfrm>
            <a:off x="3657600" y="5257800"/>
            <a:ext cx="7982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asyncHandler: o Express 4 não captura promessas rejeitadas. O wrapper envia o erro adiante com next(err), e o tratador de erros assume.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75488" y="629107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ção"/>
          <p:cNvSpPr txBox="1"/>
          <p:nvPr/>
        </p:nvSpPr>
        <p:spPr>
          <a:xfrm>
            <a:off x="54864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04  Prática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Regras de negócio no código</a:t>
            </a:r>
            <a:endParaRPr lang="en-US" sz="2800" dirty="0"/>
          </a:p>
        </p:txBody>
      </p:sp>
      <p:sp>
        <p:nvSpPr>
          <p:cNvPr id="4" name="Resumo do slide"/>
          <p:cNvSpPr txBox="1"/>
          <p:nvPr/>
        </p:nvSpPr>
        <p:spPr>
          <a:xfrm>
            <a:off x="548640" y="356616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Duas regras que o usuário nunca digita: a data de resolução e o histórico. Ambas acontecem sozinhas ao salvar.</a:t>
            </a:r>
            <a:endParaRPr lang="en-US" sz="1400" dirty="0"/>
          </a:p>
        </p:txBody>
      </p:sp>
      <p:sp>
        <p:nvSpPr>
          <p:cNvPr id="5" name="Painel de código"/>
          <p:cNvSpPr/>
          <p:nvPr/>
        </p:nvSpPr>
        <p:spPr>
          <a:xfrm>
            <a:off x="3657600" y="548640"/>
            <a:ext cx="7982712" cy="2240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Código"/>
          <p:cNvSpPr txBox="1"/>
          <p:nvPr/>
        </p:nvSpPr>
        <p:spPr>
          <a:xfrm>
            <a:off x="3886200" y="731520"/>
            <a:ext cx="752551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models/chamado.js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hooks: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beforeSave(chamado)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(chamado.changed('status'))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encerrado = ['resolvido', 'fechado'].includes(chamado.status);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(encerrado &amp;&amp; !chamado.resolvidoEm) chamado.resolvidoEm = new Date();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(!encerrado) chamado.resolvidoEm = null;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Fio"/>
          <p:cNvSpPr/>
          <p:nvPr/>
        </p:nvSpPr>
        <p:spPr>
          <a:xfrm>
            <a:off x="3657600" y="3063240"/>
            <a:ext cx="384048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8" name="Título Hook beforeSave"/>
          <p:cNvSpPr txBox="1"/>
          <p:nvPr/>
        </p:nvSpPr>
        <p:spPr>
          <a:xfrm>
            <a:off x="3657600" y="3172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Hook beforeSave</a:t>
            </a:r>
            <a:endParaRPr lang="en-US" sz="1600" dirty="0"/>
          </a:p>
        </p:txBody>
      </p:sp>
      <p:sp>
        <p:nvSpPr>
          <p:cNvPr id="9" name="Texto Hook beforeSave"/>
          <p:cNvSpPr txBox="1"/>
          <p:nvPr/>
        </p:nvSpPr>
        <p:spPr>
          <a:xfrm>
            <a:off x="3657600" y="35661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Quando a etapa vira resolvido ou fechado, grava resolvidoEm. Se o chamado volta para aberto ou em andamento, o campo é limpo.</a:t>
            </a:r>
            <a:endParaRPr lang="en-US" sz="1400" dirty="0"/>
          </a:p>
        </p:txBody>
      </p:sp>
      <p:sp>
        <p:nvSpPr>
          <p:cNvPr id="10" name="Fio"/>
          <p:cNvSpPr/>
          <p:nvPr/>
        </p:nvSpPr>
        <p:spPr>
          <a:xfrm>
            <a:off x="7799832" y="3063240"/>
            <a:ext cx="384048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11" name="Título registrarHistorico"/>
          <p:cNvSpPr txBox="1"/>
          <p:nvPr/>
        </p:nvSpPr>
        <p:spPr>
          <a:xfrm>
            <a:off x="7799832" y="3172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registrarHistorico</a:t>
            </a:r>
            <a:endParaRPr lang="en-US" sz="1600" dirty="0"/>
          </a:p>
        </p:txBody>
      </p:sp>
      <p:sp>
        <p:nvSpPr>
          <p:cNvPr id="12" name="Texto registrarHistorico"/>
          <p:cNvSpPr txBox="1"/>
          <p:nvPr/>
        </p:nvSpPr>
        <p:spPr>
          <a:xfrm>
            <a:off x="7799832" y="35661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Compara etapa, prioridade e responsável antes e depois de salvar e cria um comentário do tipo sistema para cada diferença.</a:t>
            </a:r>
            <a:endParaRPr lang="en-US" sz="1400" dirty="0"/>
          </a:p>
        </p:txBody>
      </p:sp>
      <p:sp>
        <p:nvSpPr>
          <p:cNvPr id="13" name="Exemplos de histórico"/>
          <p:cNvSpPr txBox="1"/>
          <p:nvPr/>
        </p:nvSpPr>
        <p:spPr>
          <a:xfrm>
            <a:off x="3657600" y="4937760"/>
            <a:ext cx="7982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Exemplos de registro: "Etapa alterada de Aberto para Em andamento." e "Responsável: Rafael."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75488" y="629107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ção"/>
          <p:cNvSpPr txBox="1"/>
          <p:nvPr/>
        </p:nvSpPr>
        <p:spPr>
          <a:xfrm>
            <a:off x="54864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04  Prática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Qualidade e segurança</a:t>
            </a:r>
            <a:endParaRPr lang="en-US" sz="2800" dirty="0"/>
          </a:p>
        </p:txBody>
      </p:sp>
      <p:sp>
        <p:nvSpPr>
          <p:cNvPr id="4" name="Resumo do slide"/>
          <p:cNvSpPr txBox="1"/>
          <p:nvPr/>
        </p:nvSpPr>
        <p:spPr>
          <a:xfrm>
            <a:off x="548640" y="356616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Cuidados simples que já estão no código. O último item é um limite assumido do projeto, não um descuido.</a:t>
            </a:r>
            <a:endParaRPr lang="en-US" sz="1400" dirty="0"/>
          </a:p>
        </p:txBody>
      </p:sp>
      <p:sp>
        <p:nvSpPr>
          <p:cNvPr id="5" name="Fio"/>
          <p:cNvSpPr/>
          <p:nvPr/>
        </p:nvSpPr>
        <p:spPr>
          <a:xfrm>
            <a:off x="3657600" y="548640"/>
            <a:ext cx="798271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6" name="Título Validação no model"/>
          <p:cNvSpPr txBox="1"/>
          <p:nvPr/>
        </p:nvSpPr>
        <p:spPr>
          <a:xfrm>
            <a:off x="3657600" y="704088"/>
            <a:ext cx="2011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Validação no model</a:t>
            </a:r>
            <a:endParaRPr lang="en-US" sz="1600" dirty="0"/>
          </a:p>
        </p:txBody>
      </p:sp>
      <p:sp>
        <p:nvSpPr>
          <p:cNvPr id="7" name="Detalhe Validação no model"/>
          <p:cNvSpPr txBox="1"/>
          <p:nvPr/>
        </p:nvSpPr>
        <p:spPr>
          <a:xfrm>
            <a:off x="5852160" y="704088"/>
            <a:ext cx="578815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Regras em um só lugar. O controller captura ValidationError e devolve o formulário com os erros.</a:t>
            </a:r>
            <a:endParaRPr lang="en-US" sz="1400" dirty="0"/>
          </a:p>
        </p:txBody>
      </p:sp>
      <p:sp>
        <p:nvSpPr>
          <p:cNvPr id="8" name="Fio"/>
          <p:cNvSpPr/>
          <p:nvPr/>
        </p:nvSpPr>
        <p:spPr>
          <a:xfrm>
            <a:off x="3657600" y="1389888"/>
            <a:ext cx="7982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9" name="Título Campos permitidos"/>
          <p:cNvSpPr txBox="1"/>
          <p:nvPr/>
        </p:nvSpPr>
        <p:spPr>
          <a:xfrm>
            <a:off x="3657600" y="1545336"/>
            <a:ext cx="2011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Campos permitidos</a:t>
            </a:r>
            <a:endParaRPr lang="en-US" sz="1600" dirty="0"/>
          </a:p>
        </p:txBody>
      </p:sp>
      <p:sp>
        <p:nvSpPr>
          <p:cNvPr id="10" name="Detalhe Campos permitidos"/>
          <p:cNvSpPr txBox="1"/>
          <p:nvPr/>
        </p:nvSpPr>
        <p:spPr>
          <a:xfrm>
            <a:off x="5852160" y="1545336"/>
            <a:ext cx="578815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dadosDoFormulario() escolhe quais campos gravar e ignora o resto, o que evita mass assignment.</a:t>
            </a:r>
            <a:endParaRPr lang="en-US" sz="1400" dirty="0"/>
          </a:p>
        </p:txBody>
      </p:sp>
      <p:sp>
        <p:nvSpPr>
          <p:cNvPr id="11" name="Fio"/>
          <p:cNvSpPr/>
          <p:nvPr/>
        </p:nvSpPr>
        <p:spPr>
          <a:xfrm>
            <a:off x="3657600" y="2231136"/>
            <a:ext cx="7982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2" name="Título Saída escapada"/>
          <p:cNvSpPr txBox="1"/>
          <p:nvPr/>
        </p:nvSpPr>
        <p:spPr>
          <a:xfrm>
            <a:off x="3657600" y="2386584"/>
            <a:ext cx="2011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Saída escapada</a:t>
            </a:r>
            <a:endParaRPr lang="en-US" sz="1600" dirty="0"/>
          </a:p>
        </p:txBody>
      </p:sp>
      <p:sp>
        <p:nvSpPr>
          <p:cNvPr id="13" name="Detalhe Saída escapada"/>
          <p:cNvSpPr txBox="1"/>
          <p:nvPr/>
        </p:nvSpPr>
        <p:spPr>
          <a:xfrm>
            <a:off x="5852160" y="2386584"/>
            <a:ext cx="578815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&lt;%= %&gt; converte caracteres HTML e bloqueia XSS em títulos, descrições e comentários.</a:t>
            </a:r>
            <a:endParaRPr lang="en-US" sz="1400" dirty="0"/>
          </a:p>
        </p:txBody>
      </p:sp>
      <p:sp>
        <p:nvSpPr>
          <p:cNvPr id="14" name="Fio"/>
          <p:cNvSpPr/>
          <p:nvPr/>
        </p:nvSpPr>
        <p:spPr>
          <a:xfrm>
            <a:off x="3657600" y="3072384"/>
            <a:ext cx="7982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5" name="Título Mensagens fixas"/>
          <p:cNvSpPr txBox="1"/>
          <p:nvPr/>
        </p:nvSpPr>
        <p:spPr>
          <a:xfrm>
            <a:off x="3657600" y="3227832"/>
            <a:ext cx="2011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Mensagens fixas</a:t>
            </a:r>
            <a:endParaRPr lang="en-US" sz="1600" dirty="0"/>
          </a:p>
        </p:txBody>
      </p:sp>
      <p:sp>
        <p:nvSpPr>
          <p:cNvPr id="16" name="Detalhe Mensagens fixas"/>
          <p:cNvSpPr txBox="1"/>
          <p:nvPr/>
        </p:nvSpPr>
        <p:spPr>
          <a:xfrm>
            <a:off x="5852160" y="3227832"/>
            <a:ext cx="578815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?ok= e ?erro= aceitam só códigos conhecidos; texto arbitrário na URL não aparece na tela.</a:t>
            </a:r>
            <a:endParaRPr lang="en-US" sz="1400" dirty="0"/>
          </a:p>
        </p:txBody>
      </p:sp>
      <p:sp>
        <p:nvSpPr>
          <p:cNvPr id="17" name="Fio"/>
          <p:cNvSpPr/>
          <p:nvPr/>
        </p:nvSpPr>
        <p:spPr>
          <a:xfrm>
            <a:off x="3657600" y="3913632"/>
            <a:ext cx="7982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8" name="Título Ações com POST"/>
          <p:cNvSpPr txBox="1"/>
          <p:nvPr/>
        </p:nvSpPr>
        <p:spPr>
          <a:xfrm>
            <a:off x="3657600" y="4069080"/>
            <a:ext cx="2011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Ações com POST</a:t>
            </a:r>
            <a:endParaRPr lang="en-US" sz="1600" dirty="0"/>
          </a:p>
        </p:txBody>
      </p:sp>
      <p:sp>
        <p:nvSpPr>
          <p:cNvPr id="19" name="Detalhe Ações com POST"/>
          <p:cNvSpPr txBox="1"/>
          <p:nvPr/>
        </p:nvSpPr>
        <p:spPr>
          <a:xfrm>
            <a:off x="5852160" y="4069080"/>
            <a:ext cx="578815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Criar, editar, comentar e excluir nunca acontecem por GET. Excluir ainda pede confirmação.</a:t>
            </a:r>
            <a:endParaRPr lang="en-US" sz="1400" dirty="0"/>
          </a:p>
        </p:txBody>
      </p:sp>
      <p:sp>
        <p:nvSpPr>
          <p:cNvPr id="20" name="Fio"/>
          <p:cNvSpPr/>
          <p:nvPr/>
        </p:nvSpPr>
        <p:spPr>
          <a:xfrm>
            <a:off x="3657600" y="4754880"/>
            <a:ext cx="7982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1" name="Título Sem login"/>
          <p:cNvSpPr txBox="1"/>
          <p:nvPr/>
        </p:nvSpPr>
        <p:spPr>
          <a:xfrm>
            <a:off x="3657600" y="4910328"/>
            <a:ext cx="2011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Sem login</a:t>
            </a:r>
            <a:endParaRPr lang="en-US" sz="1600" dirty="0"/>
          </a:p>
        </p:txBody>
      </p:sp>
      <p:sp>
        <p:nvSpPr>
          <p:cNvPr id="22" name="Detalhe Sem login"/>
          <p:cNvSpPr txBox="1"/>
          <p:nvPr/>
        </p:nvSpPr>
        <p:spPr>
          <a:xfrm>
            <a:off x="5852160" y="4910328"/>
            <a:ext cx="578815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Quem acessa o endereço lê e edita tudo. Use só localmente ou em rede interna confiável.</a:t>
            </a:r>
            <a:endParaRPr lang="en-US" sz="1400" dirty="0"/>
          </a:p>
        </p:txBody>
      </p:sp>
      <p:sp>
        <p:nvSpPr>
          <p:cNvPr id="23" name="Fio"/>
          <p:cNvSpPr/>
          <p:nvPr/>
        </p:nvSpPr>
        <p:spPr>
          <a:xfrm>
            <a:off x="3657600" y="5596128"/>
            <a:ext cx="7982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75488" y="629107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ção"/>
          <p:cNvSpPr txBox="1"/>
          <p:nvPr/>
        </p:nvSpPr>
        <p:spPr>
          <a:xfrm>
            <a:off x="54864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04  Prática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Roteiro das aulas</a:t>
            </a:r>
            <a:endParaRPr lang="en-US" sz="2800" dirty="0"/>
          </a:p>
        </p:txBody>
      </p:sp>
      <p:sp>
        <p:nvSpPr>
          <p:cNvPr id="4" name="Resumo do slide"/>
          <p:cNvSpPr txBox="1"/>
          <p:nvPr/>
        </p:nvSpPr>
        <p:spPr>
          <a:xfrm>
            <a:off x="548640" y="356616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Sugestão de ordem. Cada etapa termina com algo funcionando no navegador, o que ajuda a manter o ritmo.</a:t>
            </a:r>
            <a:endParaRPr lang="en-US" sz="1400" dirty="0"/>
          </a:p>
        </p:txBody>
      </p:sp>
      <p:graphicFrame>
        <p:nvGraphicFramePr>
          <p:cNvPr id="18" name="Roteir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548640"/>
          <a:ext cx="798271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737360"/>
                <a:gridCol w="3383280"/>
                <a:gridCol w="2404872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Etapa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 que fazemos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Resultado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Projeto base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npm init; instalar express, ejs, sequelize e sqlite3; criar server.js e app.js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Página inicial em localhost:3000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Banco e models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Conexão SQLite, models Chamado e Comentario, associação, sync e seed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Tabelas criadas com dados de exemplo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Rotas e controllers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Rotas, controllers, router.param e asyncHandler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Criar e listar chamados, sem estilo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Views com EJS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Partials de cabeçalho e rodapé; painel, lista, formulário e detalhes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Todas as telas navegáveis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CSS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Variáveis, quadro, tabela, formulários e versão para celular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Visual final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Extras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Comentários, histórico automático, filtros e exclusão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Sistema completo</a:t>
                      </a:r>
                      <a:endParaRPr lang="en-US" sz="1400" dirty="0"/>
                    </a:p>
                  </a:txBody>
                  <a:tcPr marL="0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75488" y="629107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ção"/>
          <p:cNvSpPr txBox="1"/>
          <p:nvPr/>
        </p:nvSpPr>
        <p:spPr>
          <a:xfrm>
            <a:off x="54864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04  Prática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Evoluções possíveis</a:t>
            </a:r>
            <a:endParaRPr lang="en-US" sz="2800" dirty="0"/>
          </a:p>
        </p:txBody>
      </p:sp>
      <p:sp>
        <p:nvSpPr>
          <p:cNvPr id="4" name="Resumo do slide"/>
          <p:cNvSpPr txBox="1"/>
          <p:nvPr/>
        </p:nvSpPr>
        <p:spPr>
          <a:xfrm>
            <a:off x="548640" y="356616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Ideias para depois do curso. Todas partem da estrutura atual sem exigir reescrever o que já existe.</a:t>
            </a:r>
            <a:endParaRPr lang="en-US" sz="1400" dirty="0"/>
          </a:p>
        </p:txBody>
      </p:sp>
      <p:sp>
        <p:nvSpPr>
          <p:cNvPr id="5" name="Fio"/>
          <p:cNvSpPr/>
          <p:nvPr/>
        </p:nvSpPr>
        <p:spPr>
          <a:xfrm>
            <a:off x="3657600" y="548640"/>
            <a:ext cx="798271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6" name="Título Login e perfis"/>
          <p:cNvSpPr txBox="1"/>
          <p:nvPr/>
        </p:nvSpPr>
        <p:spPr>
          <a:xfrm>
            <a:off x="3657600" y="7040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Login e perfis</a:t>
            </a:r>
            <a:endParaRPr lang="en-US" sz="1600" dirty="0"/>
          </a:p>
        </p:txBody>
      </p:sp>
      <p:sp>
        <p:nvSpPr>
          <p:cNvPr id="7" name="Detalhe Login e perfis"/>
          <p:cNvSpPr txBox="1"/>
          <p:nvPr/>
        </p:nvSpPr>
        <p:spPr>
          <a:xfrm>
            <a:off x="5852160" y="704088"/>
            <a:ext cx="5788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Sessão com express-session e senha com hash; separar quem abre de quem atende.</a:t>
            </a:r>
            <a:endParaRPr lang="en-US" sz="1400" dirty="0"/>
          </a:p>
        </p:txBody>
      </p:sp>
      <p:sp>
        <p:nvSpPr>
          <p:cNvPr id="8" name="Fio"/>
          <p:cNvSpPr/>
          <p:nvPr/>
        </p:nvSpPr>
        <p:spPr>
          <a:xfrm>
            <a:off x="3657600" y="1280160"/>
            <a:ext cx="7982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9" name="Título Prazos (SLA)"/>
          <p:cNvSpPr txBox="1"/>
          <p:nvPr/>
        </p:nvSpPr>
        <p:spPr>
          <a:xfrm>
            <a:off x="3657600" y="14356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Prazos (SLA)</a:t>
            </a:r>
            <a:endParaRPr lang="en-US" sz="1600" dirty="0"/>
          </a:p>
        </p:txBody>
      </p:sp>
      <p:sp>
        <p:nvSpPr>
          <p:cNvPr id="10" name="Detalhe Prazos (SLA)"/>
          <p:cNvSpPr txBox="1"/>
          <p:nvPr/>
        </p:nvSpPr>
        <p:spPr>
          <a:xfrm>
            <a:off x="5852160" y="1435608"/>
            <a:ext cx="5788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Campo de prazo por prioridade e destaque dos chamados atrasados no painel.</a:t>
            </a:r>
            <a:endParaRPr lang="en-US" sz="1400" dirty="0"/>
          </a:p>
        </p:txBody>
      </p:sp>
      <p:sp>
        <p:nvSpPr>
          <p:cNvPr id="11" name="Fio"/>
          <p:cNvSpPr/>
          <p:nvPr/>
        </p:nvSpPr>
        <p:spPr>
          <a:xfrm>
            <a:off x="3657600" y="2011680"/>
            <a:ext cx="7982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2" name="Título Anexos"/>
          <p:cNvSpPr txBox="1"/>
          <p:nvPr/>
        </p:nvSpPr>
        <p:spPr>
          <a:xfrm>
            <a:off x="3657600" y="21671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Anexos</a:t>
            </a:r>
            <a:endParaRPr lang="en-US" sz="1600" dirty="0"/>
          </a:p>
        </p:txBody>
      </p:sp>
      <p:sp>
        <p:nvSpPr>
          <p:cNvPr id="13" name="Detalhe Anexos"/>
          <p:cNvSpPr txBox="1"/>
          <p:nvPr/>
        </p:nvSpPr>
        <p:spPr>
          <a:xfrm>
            <a:off x="5852160" y="2167128"/>
            <a:ext cx="5788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Upload de prints e arquivos com multer, guardados em disco.</a:t>
            </a:r>
            <a:endParaRPr lang="en-US" sz="1400" dirty="0"/>
          </a:p>
        </p:txBody>
      </p:sp>
      <p:sp>
        <p:nvSpPr>
          <p:cNvPr id="14" name="Fio"/>
          <p:cNvSpPr/>
          <p:nvPr/>
        </p:nvSpPr>
        <p:spPr>
          <a:xfrm>
            <a:off x="3657600" y="2743200"/>
            <a:ext cx="7982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5" name="Título Paginação"/>
          <p:cNvSpPr txBox="1"/>
          <p:nvPr/>
        </p:nvSpPr>
        <p:spPr>
          <a:xfrm>
            <a:off x="3657600" y="28986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Paginação</a:t>
            </a:r>
            <a:endParaRPr lang="en-US" sz="1600" dirty="0"/>
          </a:p>
        </p:txBody>
      </p:sp>
      <p:sp>
        <p:nvSpPr>
          <p:cNvPr id="16" name="Detalhe Paginação"/>
          <p:cNvSpPr txBox="1"/>
          <p:nvPr/>
        </p:nvSpPr>
        <p:spPr>
          <a:xfrm>
            <a:off x="5852160" y="2898648"/>
            <a:ext cx="5788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lista carrega no máximo 300 chamados; paginar com limit e offset.</a:t>
            </a:r>
            <a:endParaRPr lang="en-US" sz="1400" dirty="0"/>
          </a:p>
        </p:txBody>
      </p:sp>
      <p:sp>
        <p:nvSpPr>
          <p:cNvPr id="17" name="Fio"/>
          <p:cNvSpPr/>
          <p:nvPr/>
        </p:nvSpPr>
        <p:spPr>
          <a:xfrm>
            <a:off x="3657600" y="3474720"/>
            <a:ext cx="7982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8" name="Título Arrastar cartões"/>
          <p:cNvSpPr txBox="1"/>
          <p:nvPr/>
        </p:nvSpPr>
        <p:spPr>
          <a:xfrm>
            <a:off x="3657600" y="36301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Arrastar cartões</a:t>
            </a:r>
            <a:endParaRPr lang="en-US" sz="1600" dirty="0"/>
          </a:p>
        </p:txBody>
      </p:sp>
      <p:sp>
        <p:nvSpPr>
          <p:cNvPr id="19" name="Detalhe Arrastar cartões"/>
          <p:cNvSpPr txBox="1"/>
          <p:nvPr/>
        </p:nvSpPr>
        <p:spPr>
          <a:xfrm>
            <a:off x="5852160" y="3630168"/>
            <a:ext cx="5788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Mudar a etapa arrastando no painel, com fetch para a rota de andamento.</a:t>
            </a:r>
            <a:endParaRPr lang="en-US" sz="1400" dirty="0"/>
          </a:p>
        </p:txBody>
      </p:sp>
      <p:sp>
        <p:nvSpPr>
          <p:cNvPr id="20" name="Fio"/>
          <p:cNvSpPr/>
          <p:nvPr/>
        </p:nvSpPr>
        <p:spPr>
          <a:xfrm>
            <a:off x="3657600" y="4206240"/>
            <a:ext cx="7982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1" name="Título Outro banco"/>
          <p:cNvSpPr txBox="1"/>
          <p:nvPr/>
        </p:nvSpPr>
        <p:spPr>
          <a:xfrm>
            <a:off x="3657600" y="43616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Outro banco</a:t>
            </a:r>
            <a:endParaRPr lang="en-US" sz="1600" dirty="0"/>
          </a:p>
        </p:txBody>
      </p:sp>
      <p:sp>
        <p:nvSpPr>
          <p:cNvPr id="22" name="Detalhe Outro banco"/>
          <p:cNvSpPr txBox="1"/>
          <p:nvPr/>
        </p:nvSpPr>
        <p:spPr>
          <a:xfrm>
            <a:off x="5852160" y="4361688"/>
            <a:ext cx="5788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Trocar SQLite por PostgreSQL mudando a configuração do Sequelize e o driver.</a:t>
            </a:r>
            <a:endParaRPr lang="en-US" sz="1400" dirty="0"/>
          </a:p>
        </p:txBody>
      </p:sp>
      <p:sp>
        <p:nvSpPr>
          <p:cNvPr id="23" name="Fio"/>
          <p:cNvSpPr/>
          <p:nvPr/>
        </p:nvSpPr>
        <p:spPr>
          <a:xfrm>
            <a:off x="3657600" y="4937760"/>
            <a:ext cx="7982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4" name="Título Testes"/>
          <p:cNvSpPr txBox="1"/>
          <p:nvPr/>
        </p:nvSpPr>
        <p:spPr>
          <a:xfrm>
            <a:off x="3657600" y="50932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Testes</a:t>
            </a:r>
            <a:endParaRPr lang="en-US" sz="1600" dirty="0"/>
          </a:p>
        </p:txBody>
      </p:sp>
      <p:sp>
        <p:nvSpPr>
          <p:cNvPr id="25" name="Detalhe Testes"/>
          <p:cNvSpPr txBox="1"/>
          <p:nvPr/>
        </p:nvSpPr>
        <p:spPr>
          <a:xfrm>
            <a:off x="5852160" y="5093208"/>
            <a:ext cx="5788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Testar models e rotas com Jest e supertest.</a:t>
            </a:r>
            <a:endParaRPr lang="en-US" sz="1400" dirty="0"/>
          </a:p>
        </p:txBody>
      </p:sp>
      <p:sp>
        <p:nvSpPr>
          <p:cNvPr id="26" name="Fio"/>
          <p:cNvSpPr/>
          <p:nvPr/>
        </p:nvSpPr>
        <p:spPr>
          <a:xfrm>
            <a:off x="3657600" y="5669280"/>
            <a:ext cx="7982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75488" y="629107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ção"/>
          <p:cNvSpPr txBox="1"/>
          <p:nvPr/>
        </p:nvSpPr>
        <p:spPr>
          <a:xfrm>
            <a:off x="54864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04  Prática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Como rodar o projeto</a:t>
            </a:r>
            <a:endParaRPr lang="en-US" sz="2800" dirty="0"/>
          </a:p>
        </p:txBody>
      </p:sp>
      <p:sp>
        <p:nvSpPr>
          <p:cNvPr id="4" name="Resumo do slide"/>
          <p:cNvSpPr txBox="1"/>
          <p:nvPr/>
        </p:nvSpPr>
        <p:spPr>
          <a:xfrm>
            <a:off x="548640" y="356616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Próximo passo: criar o projeto base com Express e deixar uma primeira página no ar.</a:t>
            </a:r>
            <a:endParaRPr lang="en-US" sz="1400" dirty="0"/>
          </a:p>
        </p:txBody>
      </p:sp>
      <p:sp>
        <p:nvSpPr>
          <p:cNvPr id="5" name="Painel de código"/>
          <p:cNvSpPr/>
          <p:nvPr/>
        </p:nvSpPr>
        <p:spPr>
          <a:xfrm>
            <a:off x="3657600" y="548640"/>
            <a:ext cx="7982712" cy="21031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Código"/>
          <p:cNvSpPr txBox="1"/>
          <p:nvPr/>
        </p:nvSpPr>
        <p:spPr>
          <a:xfrm>
            <a:off x="3886200" y="731520"/>
            <a:ext cx="7525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install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run seed      # opcional: dados de exemplo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start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http://localhost:3000</a:t>
            </a:r>
            <a:endParaRPr lang="en-US" sz="1800" dirty="0"/>
          </a:p>
        </p:txBody>
      </p:sp>
      <p:sp>
        <p:nvSpPr>
          <p:cNvPr id="7" name="Fio"/>
          <p:cNvSpPr/>
          <p:nvPr/>
        </p:nvSpPr>
        <p:spPr>
          <a:xfrm>
            <a:off x="3657600" y="3017520"/>
            <a:ext cx="2514600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solid"/>
          </a:ln>
        </p:spPr>
      </p:sp>
      <p:sp>
        <p:nvSpPr>
          <p:cNvPr id="8" name="Título Pré-requisitos"/>
          <p:cNvSpPr txBox="1"/>
          <p:nvPr/>
        </p:nvSpPr>
        <p:spPr>
          <a:xfrm>
            <a:off x="3657600" y="31272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Pré-requisitos</a:t>
            </a:r>
            <a:endParaRPr lang="en-US" sz="1600" dirty="0"/>
          </a:p>
        </p:txBody>
      </p:sp>
      <p:sp>
        <p:nvSpPr>
          <p:cNvPr id="9" name="Itens Pré-requisitos"/>
          <p:cNvSpPr txBox="1"/>
          <p:nvPr/>
        </p:nvSpPr>
        <p:spPr>
          <a:xfrm>
            <a:off x="3657600" y="356616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Node.js 18 ou superior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Editor de código, como o VS Code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Navegador e terminal</a:t>
            </a:r>
            <a:endParaRPr lang="en-US" sz="1400" dirty="0"/>
          </a:p>
        </p:txBody>
      </p:sp>
      <p:sp>
        <p:nvSpPr>
          <p:cNvPr id="10" name="Fio"/>
          <p:cNvSpPr/>
          <p:nvPr/>
        </p:nvSpPr>
        <p:spPr>
          <a:xfrm>
            <a:off x="6391656" y="3017520"/>
            <a:ext cx="2514600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solid"/>
          </a:ln>
        </p:spPr>
      </p:sp>
      <p:sp>
        <p:nvSpPr>
          <p:cNvPr id="11" name="Título Scripts"/>
          <p:cNvSpPr txBox="1"/>
          <p:nvPr/>
        </p:nvSpPr>
        <p:spPr>
          <a:xfrm>
            <a:off x="6391656" y="31272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Scripts</a:t>
            </a:r>
            <a:endParaRPr lang="en-US" sz="1600" dirty="0"/>
          </a:p>
        </p:txBody>
      </p:sp>
      <p:sp>
        <p:nvSpPr>
          <p:cNvPr id="12" name="Itens Scripts"/>
          <p:cNvSpPr txBox="1"/>
          <p:nvPr/>
        </p:nvSpPr>
        <p:spPr>
          <a:xfrm>
            <a:off x="6391656" y="356616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npm start: sobe o servidor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npm run dev: reinicia ao salvar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npm run seed: recria o banco com exemplos e apaga os dados</a:t>
            </a:r>
            <a:endParaRPr lang="en-US" sz="1400" dirty="0"/>
          </a:p>
        </p:txBody>
      </p:sp>
      <p:sp>
        <p:nvSpPr>
          <p:cNvPr id="13" name="Fio"/>
          <p:cNvSpPr/>
          <p:nvPr/>
        </p:nvSpPr>
        <p:spPr>
          <a:xfrm>
            <a:off x="9125712" y="3017520"/>
            <a:ext cx="2514600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solid"/>
          </a:ln>
        </p:spPr>
      </p:sp>
      <p:sp>
        <p:nvSpPr>
          <p:cNvPr id="14" name="Título Dicas"/>
          <p:cNvSpPr txBox="1"/>
          <p:nvPr/>
        </p:nvSpPr>
        <p:spPr>
          <a:xfrm>
            <a:off x="9125712" y="31272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Dicas</a:t>
            </a:r>
            <a:endParaRPr lang="en-US" sz="1600" dirty="0"/>
          </a:p>
        </p:txBody>
      </p:sp>
      <p:sp>
        <p:nvSpPr>
          <p:cNvPr id="15" name="Itens Dicas"/>
          <p:cNvSpPr txBox="1"/>
          <p:nvPr/>
        </p:nvSpPr>
        <p:spPr>
          <a:xfrm>
            <a:off x="9125712" y="356616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PORT=4000 npm start muda a porta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Para zerar, apague data/chamados.sqlite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Mudou um model? Apague o arquivo para recriar as tabelas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75488" y="629107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mados de TI - Swiss">
  <a:themeElements>
    <a:clrScheme name="Chamados de TI - Swiss">
      <a:dk1>
        <a:srgbClr val="111111"/>
      </a:dk1>
      <a:lt1>
        <a:srgbClr val="FFFFFF"/>
      </a:lt1>
      <a:dk2>
        <a:srgbClr val="2B2B2B"/>
      </a:dk2>
      <a:lt2>
        <a:srgbClr val="F0F0F0"/>
      </a:lt2>
      <a:accent1>
        <a:srgbClr val="E30613"/>
      </a:accent1>
      <a:accent2>
        <a:srgbClr val="6B6B6B"/>
      </a:accent2>
      <a:accent3>
        <a:srgbClr val="BDBDBD"/>
      </a:accent3>
      <a:accent4>
        <a:srgbClr val="111111"/>
      </a:accent4>
      <a:accent5>
        <a:srgbClr val="8C8C8C"/>
      </a:accent5>
      <a:accent6>
        <a:srgbClr val="D9D9D9"/>
      </a:accent6>
      <a:hlink>
        <a:srgbClr val="E30613"/>
      </a:hlink>
      <a:folHlink>
        <a:srgbClr val="6B6B6B"/>
      </a:folHlink>
    </a:clrScheme>
    <a:fontScheme name="Chamados de TI - Swis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Chamados de TI - apresentação do projeto</dc:title>
  <dc:subject>PptxGenJS Presentation</dc:subject>
  <dc:creator>Jacques</dc:creator>
  <cp:lastModifiedBy>Jacques</cp:lastModifiedBy>
  <cp:revision>1</cp:revision>
  <dcterms:created xsi:type="dcterms:W3CDTF">2026-10-08T08:43:43Z</dcterms:created>
  <dcterms:modified xsi:type="dcterms:W3CDTF">2026-10-08T08:43:43Z</dcterms:modified>
</cp:coreProperties>
</file>