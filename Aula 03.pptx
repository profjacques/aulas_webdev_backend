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pt-BR" altLang="en-US"/>
              <a:t>Sistemas Web II</a:t>
            </a:r>
            <a:endParaRPr lang="pt-BR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pt-BR"/>
              <a:t>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</a:t>
            </a:r>
            <a:r>
              <a:rPr lang="pt-BR" altLang="en-US"/>
              <a:t>:</a:t>
            </a:r>
            <a:r>
              <a:rPr lang="en-US" altLang="pt-BR"/>
              <a:t> Estrat</a:t>
            </a:r>
            <a:r>
              <a:rPr lang="en-US" altLang="en-US"/>
              <a:t>é</a:t>
            </a:r>
            <a:r>
              <a:rPr lang="en-US" altLang="pt-BR"/>
              <a:t>gias para aplica</a:t>
            </a:r>
            <a:r>
              <a:rPr lang="en-US" altLang="en-US"/>
              <a:t>çõ</a:t>
            </a:r>
            <a:r>
              <a:rPr lang="en-US" altLang="pt-BR"/>
              <a:t>es Web;</a:t>
            </a:r>
            <a:r>
              <a:rPr lang="pt-BR" altLang="en-US"/>
              <a:t> </a:t>
            </a:r>
            <a:r>
              <a:rPr lang="en-US" altLang="pt-BR"/>
              <a:t>Estrat</a:t>
            </a:r>
            <a:r>
              <a:rPr lang="en-US" altLang="en-US"/>
              <a:t>é</a:t>
            </a:r>
            <a:r>
              <a:rPr lang="en-US" altLang="pt-BR"/>
              <a:t>gias para APIs REST. </a:t>
            </a:r>
            <a:endParaRPr lang="en-US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1. Introdu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en-US" altLang="pt-BR"/>
              <a:t>A seguran</a:t>
            </a:r>
            <a:r>
              <a:rPr lang="en-US" altLang="en-US"/>
              <a:t>ç</a:t>
            </a:r>
            <a:r>
              <a:rPr lang="en-US" altLang="pt-BR"/>
              <a:t>a </a:t>
            </a:r>
            <a:r>
              <a:rPr lang="en-US" altLang="en-US"/>
              <a:t>é</a:t>
            </a:r>
            <a:r>
              <a:rPr lang="en-US" altLang="pt-BR"/>
              <a:t> um pilar inegoci</a:t>
            </a:r>
            <a:r>
              <a:rPr lang="en-US" altLang="en-US"/>
              <a:t>á</a:t>
            </a:r>
            <a:r>
              <a:rPr lang="en-US" altLang="pt-BR"/>
              <a:t>vel no desenvolvimento de aplica</a:t>
            </a:r>
            <a:r>
              <a:rPr lang="en-US" altLang="en-US"/>
              <a:t>çõ</a:t>
            </a:r>
            <a:r>
              <a:rPr lang="en-US" altLang="pt-BR"/>
              <a:t>es web modernas. Dentro desse contexto, 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a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s</a:t>
            </a:r>
            <a:r>
              <a:rPr lang="en-US" altLang="en-US"/>
              <a:t>ã</a:t>
            </a:r>
            <a:r>
              <a:rPr lang="en-US" altLang="pt-BR"/>
              <a:t>o conceitos fundamentais, embora frequentemente confundidos. Compreender suas distin</a:t>
            </a:r>
            <a:r>
              <a:rPr lang="en-US" altLang="en-US"/>
              <a:t>çõ</a:t>
            </a:r>
            <a:r>
              <a:rPr lang="en-US" altLang="pt-BR"/>
              <a:t>es e interdepend</a:t>
            </a:r>
            <a:r>
              <a:rPr lang="en-US" altLang="en-US"/>
              <a:t>ê</a:t>
            </a:r>
            <a:r>
              <a:rPr lang="en-US" altLang="pt-BR"/>
              <a:t>ncias </a:t>
            </a:r>
            <a:r>
              <a:rPr lang="en-US" altLang="en-US"/>
              <a:t>é</a:t>
            </a:r>
            <a:r>
              <a:rPr lang="en-US" altLang="pt-BR"/>
              <a:t> o primeiro passo para construir sistemas robustos e seguros.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 b="1"/>
              <a:t>Fundamentos de Autentica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e Autoriza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em Aplica</a:t>
            </a:r>
            <a:r>
              <a:rPr lang="en-US" altLang="en-US" b="1"/>
              <a:t>çõ</a:t>
            </a:r>
            <a:r>
              <a:rPr lang="en-US" altLang="pt-BR" b="1"/>
              <a:t>es Web</a:t>
            </a:r>
            <a:endParaRPr lang="en-US" altLang="pt-BR" b="1"/>
          </a:p>
          <a:p>
            <a:pPr algn="just"/>
            <a:r>
              <a:rPr lang="en-US" altLang="pt-BR"/>
              <a:t>A seguran</a:t>
            </a:r>
            <a:r>
              <a:rPr lang="en-US" altLang="en-US"/>
              <a:t>ç</a:t>
            </a:r>
            <a:r>
              <a:rPr lang="en-US" altLang="pt-BR"/>
              <a:t>a cibern</a:t>
            </a:r>
            <a:r>
              <a:rPr lang="en-US" altLang="en-US"/>
              <a:t>é</a:t>
            </a:r>
            <a:r>
              <a:rPr lang="en-US" altLang="pt-BR"/>
              <a:t>tica em aplica</a:t>
            </a:r>
            <a:r>
              <a:rPr lang="en-US" altLang="en-US"/>
              <a:t>çõ</a:t>
            </a:r>
            <a:r>
              <a:rPr lang="en-US" altLang="pt-BR"/>
              <a:t>es web exige uma compreens</a:t>
            </a:r>
            <a:r>
              <a:rPr lang="en-US" altLang="en-US"/>
              <a:t>ã</a:t>
            </a:r>
            <a:r>
              <a:rPr lang="en-US" altLang="pt-BR"/>
              <a:t>o clara dos mecanismos que controlam o acesso a recursos e informa</a:t>
            </a:r>
            <a:r>
              <a:rPr lang="en-US" altLang="en-US"/>
              <a:t>çõ</a:t>
            </a:r>
            <a:r>
              <a:rPr lang="en-US" altLang="pt-BR"/>
              <a:t>es.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s</a:t>
            </a:r>
            <a:r>
              <a:rPr lang="en-US" altLang="en-US"/>
              <a:t>ã</a:t>
            </a:r>
            <a:r>
              <a:rPr lang="en-US" altLang="pt-BR"/>
              <a:t>o os pilares que sustentam essa seguran</a:t>
            </a:r>
            <a:r>
              <a:rPr lang="en-US" altLang="en-US"/>
              <a:t>ç</a:t>
            </a:r>
            <a:r>
              <a:rPr lang="en-US" altLang="pt-BR"/>
              <a:t>a, atuando em conjunto para garantir que apenas entidades leg</a:t>
            </a:r>
            <a:r>
              <a:rPr lang="en-US" altLang="en-US"/>
              <a:t>í</a:t>
            </a:r>
            <a:r>
              <a:rPr lang="en-US" altLang="pt-BR"/>
              <a:t>timas realizem a</a:t>
            </a:r>
            <a:r>
              <a:rPr lang="en-US" altLang="en-US"/>
              <a:t>çõ</a:t>
            </a:r>
            <a:r>
              <a:rPr lang="en-US" altLang="pt-BR"/>
              <a:t>es permitidas.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1.1. O que </a:t>
            </a:r>
            <a:r>
              <a:rPr lang="en-US" altLang="en-US"/>
              <a:t>é</a:t>
            </a:r>
            <a:r>
              <a:rPr lang="en-US" altLang="pt-BR"/>
              <a:t>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o?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/>
              <a:t>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</a:t>
            </a:r>
            <a:r>
              <a:rPr lang="en-US" altLang="en-US"/>
              <a:t>é</a:t>
            </a:r>
            <a:r>
              <a:rPr lang="en-US" altLang="pt-BR"/>
              <a:t> o processo de verificar a identidade de um usu</a:t>
            </a:r>
            <a:r>
              <a:rPr lang="en-US" altLang="en-US"/>
              <a:t>á</a:t>
            </a:r>
            <a:r>
              <a:rPr lang="en-US" altLang="pt-BR"/>
              <a:t>rio, servi</a:t>
            </a:r>
            <a:r>
              <a:rPr lang="en-US" altLang="en-US"/>
              <a:t>ç</a:t>
            </a:r>
            <a:r>
              <a:rPr lang="en-US" altLang="pt-BR"/>
              <a:t>o ou sistema. Em sua ess</a:t>
            </a:r>
            <a:r>
              <a:rPr lang="en-US" altLang="en-US"/>
              <a:t>ê</a:t>
            </a:r>
            <a:r>
              <a:rPr lang="en-US" altLang="pt-BR"/>
              <a:t>ncia, ela responde à pergunta: </a:t>
            </a:r>
            <a:r>
              <a:rPr lang="en-US" altLang="pt-BR" i="1"/>
              <a:t>"Quem </a:t>
            </a:r>
            <a:r>
              <a:rPr lang="en-US" altLang="en-US" i="1"/>
              <a:t>é</a:t>
            </a:r>
            <a:r>
              <a:rPr lang="en-US" altLang="pt-BR" i="1"/>
              <a:t> voc</a:t>
            </a:r>
            <a:r>
              <a:rPr lang="en-US" altLang="en-US" i="1"/>
              <a:t>ê</a:t>
            </a:r>
            <a:r>
              <a:rPr lang="en-US" altLang="pt-BR" i="1"/>
              <a:t>?"</a:t>
            </a:r>
            <a:r>
              <a:rPr lang="en-US" altLang="pt-BR"/>
              <a:t>. </a:t>
            </a:r>
            <a:endParaRPr lang="en-US" altLang="pt-BR"/>
          </a:p>
          <a:p>
            <a:pPr algn="just"/>
            <a:r>
              <a:rPr lang="en-US" altLang="pt-BR"/>
              <a:t>Este processo tipicamente envolve a valida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credenciais fornecidas pelo solicitante, que podem incluir um nome de usu</a:t>
            </a:r>
            <a:r>
              <a:rPr lang="en-US" altLang="en-US"/>
              <a:t>á</a:t>
            </a:r>
            <a:r>
              <a:rPr lang="en-US" altLang="pt-BR"/>
              <a:t>rio e senha, a apresenta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certificados digitais ou o uso de fatores biom</a:t>
            </a:r>
            <a:r>
              <a:rPr lang="en-US" altLang="en-US"/>
              <a:t>é</a:t>
            </a:r>
            <a:r>
              <a:rPr lang="en-US" altLang="pt-BR"/>
              <a:t>tricos, como impress</a:t>
            </a:r>
            <a:r>
              <a:rPr lang="en-US" altLang="en-US"/>
              <a:t>õ</a:t>
            </a:r>
            <a:r>
              <a:rPr lang="en-US" altLang="pt-BR"/>
              <a:t>es digitais ou reconhecimento facial. </a:t>
            </a:r>
            <a:endParaRPr lang="en-US" altLang="pt-BR"/>
          </a:p>
          <a:p>
            <a:pPr algn="just"/>
            <a:r>
              <a:rPr lang="en-US" altLang="pt-BR"/>
              <a:t>Uma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bem-sucedida estabelece um n</a:t>
            </a:r>
            <a:r>
              <a:rPr lang="en-US" altLang="en-US"/>
              <a:t>í</a:t>
            </a:r>
            <a:r>
              <a:rPr lang="en-US" altLang="pt-BR"/>
              <a:t>vel de confian</a:t>
            </a:r>
            <a:r>
              <a:rPr lang="en-US" altLang="en-US"/>
              <a:t>ç</a:t>
            </a:r>
            <a:r>
              <a:rPr lang="en-US" altLang="pt-BR"/>
              <a:t>a na identidade declarada do solicitante, sendo o primeiro passo para permitir qualquer intera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com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</a:t>
            </a: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1.2. O que </a:t>
            </a:r>
            <a:r>
              <a:rPr lang="en-US" altLang="en-US"/>
              <a:t>é</a:t>
            </a:r>
            <a:r>
              <a:rPr lang="en-US" altLang="pt-BR"/>
              <a:t>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o?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/>
              <a:t>A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o, por outro lado, </a:t>
            </a:r>
            <a:r>
              <a:rPr lang="en-US" altLang="en-US"/>
              <a:t>é</a:t>
            </a:r>
            <a:r>
              <a:rPr lang="en-US" altLang="pt-BR"/>
              <a:t> o processo subsequente que determina quais recursos ou a</a:t>
            </a:r>
            <a:r>
              <a:rPr lang="en-US" altLang="en-US"/>
              <a:t>çõ</a:t>
            </a:r>
            <a:r>
              <a:rPr lang="en-US" altLang="pt-BR"/>
              <a:t>es um usu</a:t>
            </a:r>
            <a:r>
              <a:rPr lang="en-US" altLang="en-US"/>
              <a:t>á</a:t>
            </a:r>
            <a:r>
              <a:rPr lang="en-US" altLang="pt-BR"/>
              <a:t>rio, cuja identidade foi previamente verificada (autenticada), tem permiss</a:t>
            </a:r>
            <a:r>
              <a:rPr lang="en-US" altLang="en-US"/>
              <a:t>ã</a:t>
            </a:r>
            <a:r>
              <a:rPr lang="en-US" altLang="pt-BR"/>
              <a:t>o para acessar ou executar. </a:t>
            </a:r>
            <a:endParaRPr lang="en-US" altLang="pt-BR"/>
          </a:p>
          <a:p>
            <a:pPr algn="just"/>
            <a:r>
              <a:rPr lang="en-US" altLang="pt-BR"/>
              <a:t>A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responde à pergunta: </a:t>
            </a:r>
            <a:r>
              <a:rPr lang="en-US" altLang="pt-BR" i="1"/>
              <a:t>"O que voc</a:t>
            </a:r>
            <a:r>
              <a:rPr lang="en-US" altLang="en-US" i="1"/>
              <a:t>ê</a:t>
            </a:r>
            <a:r>
              <a:rPr lang="en-US" altLang="pt-BR" i="1"/>
              <a:t> tem permiss</a:t>
            </a:r>
            <a:r>
              <a:rPr lang="en-US" altLang="en-US" i="1"/>
              <a:t>ã</a:t>
            </a:r>
            <a:r>
              <a:rPr lang="en-US" altLang="pt-BR" i="1"/>
              <a:t>o para fazer?"</a:t>
            </a:r>
            <a:r>
              <a:rPr lang="en-US" altLang="pt-BR"/>
              <a:t>. </a:t>
            </a:r>
            <a:endParaRPr lang="en-US" altLang="pt-BR"/>
          </a:p>
          <a:p>
            <a:pPr algn="just"/>
            <a:r>
              <a:rPr lang="en-US" altLang="pt-BR"/>
              <a:t>Uma vez que a identidade do usu</a:t>
            </a:r>
            <a:r>
              <a:rPr lang="en-US" altLang="en-US"/>
              <a:t>á</a:t>
            </a:r>
            <a:r>
              <a:rPr lang="en-US" altLang="pt-BR"/>
              <a:t>rio </a:t>
            </a:r>
            <a:r>
              <a:rPr lang="en-US" altLang="en-US"/>
              <a:t>é</a:t>
            </a:r>
            <a:r>
              <a:rPr lang="en-US" altLang="pt-BR"/>
              <a:t> confirmada, a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entra em 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para aplicar as regras de acesso definidas, concedendo ou negando permiss</a:t>
            </a:r>
            <a:r>
              <a:rPr lang="en-US" altLang="en-US"/>
              <a:t>õ</a:t>
            </a:r>
            <a:r>
              <a:rPr lang="en-US" altLang="pt-BR"/>
              <a:t>es espec</a:t>
            </a:r>
            <a:r>
              <a:rPr lang="en-US" altLang="en-US"/>
              <a:t>í</a:t>
            </a:r>
            <a:r>
              <a:rPr lang="en-US" altLang="pt-BR"/>
              <a:t>ficas com base no perfil, fun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ou atributos do usu</a:t>
            </a:r>
            <a:r>
              <a:rPr lang="en-US" altLang="en-US"/>
              <a:t>á</a:t>
            </a:r>
            <a:r>
              <a:rPr lang="en-US" altLang="pt-BR"/>
              <a:t>rio.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1.3. Por que s</a:t>
            </a:r>
            <a:r>
              <a:rPr lang="en-US" altLang="en-US"/>
              <a:t>ã</a:t>
            </a:r>
            <a:r>
              <a:rPr lang="en-US" altLang="pt-BR"/>
              <a:t>o Cruciais para a Seguran</a:t>
            </a:r>
            <a:r>
              <a:rPr lang="en-US" altLang="en-US"/>
              <a:t>ç</a:t>
            </a:r>
            <a:r>
              <a:rPr lang="en-US" altLang="pt-BR"/>
              <a:t>a Web?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/>
              <a:t>A combina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da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forma a base do controle de acesso em qualquer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Sem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o,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n</a:t>
            </a:r>
            <a:r>
              <a:rPr lang="en-US" altLang="en-US"/>
              <a:t>ã</a:t>
            </a:r>
            <a:r>
              <a:rPr lang="en-US" altLang="pt-BR"/>
              <a:t>o teria como diferenciar um usu</a:t>
            </a:r>
            <a:r>
              <a:rPr lang="en-US" altLang="en-US"/>
              <a:t>á</a:t>
            </a:r>
            <a:r>
              <a:rPr lang="en-US" altLang="pt-BR"/>
              <a:t>rio leg</a:t>
            </a:r>
            <a:r>
              <a:rPr lang="en-US" altLang="en-US"/>
              <a:t>í</a:t>
            </a:r>
            <a:r>
              <a:rPr lang="en-US" altLang="pt-BR"/>
              <a:t>timo de um invasor, permitindo que qualquer um se passasse por outro usu</a:t>
            </a:r>
            <a:r>
              <a:rPr lang="en-US" altLang="en-US"/>
              <a:t>á</a:t>
            </a:r>
            <a:r>
              <a:rPr lang="en-US" altLang="pt-BR"/>
              <a:t>rio. </a:t>
            </a:r>
            <a:endParaRPr lang="en-US" altLang="pt-BR"/>
          </a:p>
          <a:p>
            <a:pPr algn="just"/>
            <a:r>
              <a:rPr lang="en-US" altLang="pt-BR"/>
              <a:t>Da mesma forma, sem um sistema de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eficaz, mesmo um usu</a:t>
            </a:r>
            <a:r>
              <a:rPr lang="en-US" altLang="en-US"/>
              <a:t>á</a:t>
            </a:r>
            <a:r>
              <a:rPr lang="en-US" altLang="pt-BR"/>
              <a:t>rio autenticado poderia acessar ou manipular dados e funcionalidades para os quais n</a:t>
            </a:r>
            <a:r>
              <a:rPr lang="en-US" altLang="en-US"/>
              <a:t>ã</a:t>
            </a:r>
            <a:r>
              <a:rPr lang="en-US" altLang="pt-BR"/>
              <a:t>o possui permiss</a:t>
            </a:r>
            <a:r>
              <a:rPr lang="en-US" altLang="en-US"/>
              <a:t>ã</a:t>
            </a:r>
            <a:r>
              <a:rPr lang="en-US" altLang="pt-BR"/>
              <a:t>o. </a:t>
            </a:r>
            <a:endParaRPr lang="en-US" altLang="pt-BR"/>
          </a:p>
          <a:p>
            <a:pPr algn="just"/>
            <a:r>
              <a:rPr lang="en-US" altLang="pt-BR"/>
              <a:t>Isso poderia levar a vazamentos de dados sens</a:t>
            </a:r>
            <a:r>
              <a:rPr lang="en-US" altLang="en-US"/>
              <a:t>í</a:t>
            </a:r>
            <a:r>
              <a:rPr lang="en-US" altLang="pt-BR"/>
              <a:t>veis, manipula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indevida de informa</a:t>
            </a:r>
            <a:r>
              <a:rPr lang="en-US" altLang="en-US"/>
              <a:t>çõ</a:t>
            </a:r>
            <a:r>
              <a:rPr lang="en-US" altLang="pt-BR"/>
              <a:t>es, viola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da privacidade e, em </a:t>
            </a:r>
            <a:r>
              <a:rPr lang="en-US" altLang="en-US"/>
              <a:t>ú</a:t>
            </a:r>
            <a:r>
              <a:rPr lang="en-US" altLang="pt-BR"/>
              <a:t>ltima inst</a:t>
            </a:r>
            <a:r>
              <a:rPr lang="en-US" altLang="en-US"/>
              <a:t>â</a:t>
            </a:r>
            <a:r>
              <a:rPr lang="en-US" altLang="pt-BR"/>
              <a:t>ncia, ao comprometimento da integridade e disponibilidade do sistema.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2. Estrat</a:t>
            </a:r>
            <a:r>
              <a:rPr lang="en-US" altLang="en-US"/>
              <a:t>é</a:t>
            </a:r>
            <a:r>
              <a:rPr lang="en-US" altLang="pt-BR"/>
              <a:t>gias de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o: Estabelecendo a Identidade do Usu</a:t>
            </a:r>
            <a:r>
              <a:rPr lang="en-US" altLang="en-US"/>
              <a:t>á</a:t>
            </a:r>
            <a:r>
              <a:rPr lang="en-US" altLang="pt-BR"/>
              <a:t>rio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/>
              <a:t>A escolha da estrat</a:t>
            </a:r>
            <a:r>
              <a:rPr lang="en-US" altLang="en-US"/>
              <a:t>é</a:t>
            </a:r>
            <a:r>
              <a:rPr lang="en-US" altLang="pt-BR"/>
              <a:t>gia de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impacta diretamente a escalabilidade, a experi</a:t>
            </a:r>
            <a:r>
              <a:rPr lang="en-US" altLang="en-US"/>
              <a:t>ê</a:t>
            </a:r>
            <a:r>
              <a:rPr lang="en-US" altLang="pt-BR"/>
              <a:t>ncia do usu</a:t>
            </a:r>
            <a:r>
              <a:rPr lang="en-US" altLang="en-US"/>
              <a:t>á</a:t>
            </a:r>
            <a:r>
              <a:rPr lang="en-US" altLang="pt-BR"/>
              <a:t>rio e a postura de seguran</a:t>
            </a:r>
            <a:r>
              <a:rPr lang="en-US" altLang="en-US"/>
              <a:t>ç</a:t>
            </a:r>
            <a:r>
              <a:rPr lang="en-US" altLang="pt-BR"/>
              <a:t>a de uma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</a:t>
            </a:r>
            <a:endParaRPr lang="en-US" altLang="pt-BR"/>
          </a:p>
          <a:p>
            <a:pPr algn="just"/>
            <a:r>
              <a:rPr lang="en-US" altLang="pt-BR"/>
              <a:t>No contexto de Node.js, diversas abordagens s</a:t>
            </a:r>
            <a:r>
              <a:rPr lang="en-US" altLang="en-US"/>
              <a:t>ã</a:t>
            </a:r>
            <a:r>
              <a:rPr lang="en-US" altLang="pt-BR"/>
              <a:t>o vi</a:t>
            </a:r>
            <a:r>
              <a:rPr lang="en-US" altLang="en-US"/>
              <a:t>á</a:t>
            </a:r>
            <a:r>
              <a:rPr lang="en-US" altLang="pt-BR"/>
              <a:t>veis, cada uma com suas particularidades e cen</a:t>
            </a:r>
            <a:r>
              <a:rPr lang="en-US" altLang="en-US"/>
              <a:t>á</a:t>
            </a:r>
            <a:r>
              <a:rPr lang="en-US" altLang="pt-BR"/>
              <a:t>rios de uso ideais.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2.1.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Baseada em Sess</a:t>
            </a:r>
            <a:r>
              <a:rPr lang="en-US" altLang="en-US"/>
              <a:t>ã</a:t>
            </a:r>
            <a:r>
              <a:rPr lang="en-US" altLang="pt-BR"/>
              <a:t>o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/>
              <a:t>Na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baseada em sess</a:t>
            </a:r>
            <a:r>
              <a:rPr lang="en-US" altLang="en-US"/>
              <a:t>ã</a:t>
            </a:r>
            <a:r>
              <a:rPr lang="en-US" altLang="pt-BR"/>
              <a:t>o, ap</a:t>
            </a:r>
            <a:r>
              <a:rPr lang="en-US" altLang="en-US"/>
              <a:t>ó</a:t>
            </a:r>
            <a:r>
              <a:rPr lang="en-US" altLang="pt-BR"/>
              <a:t>s um login bem-sucedido, o servidor cria uma "sess</a:t>
            </a:r>
            <a:r>
              <a:rPr lang="en-US" altLang="en-US"/>
              <a:t>ã</a:t>
            </a:r>
            <a:r>
              <a:rPr lang="en-US" altLang="pt-BR"/>
              <a:t>o" exclusiva para o usu</a:t>
            </a:r>
            <a:r>
              <a:rPr lang="en-US" altLang="en-US"/>
              <a:t>á</a:t>
            </a:r>
            <a:r>
              <a:rPr lang="en-US" altLang="pt-BR"/>
              <a:t>rio. Informa</a:t>
            </a:r>
            <a:r>
              <a:rPr lang="en-US" altLang="en-US"/>
              <a:t>çõ</a:t>
            </a:r>
            <a:r>
              <a:rPr lang="en-US" altLang="pt-BR"/>
              <a:t>es sobre essa sess</a:t>
            </a:r>
            <a:r>
              <a:rPr lang="en-US" altLang="en-US"/>
              <a:t>ã</a:t>
            </a:r>
            <a:r>
              <a:rPr lang="en-US" altLang="pt-BR"/>
              <a:t>o, como o ID do usu</a:t>
            </a:r>
            <a:r>
              <a:rPr lang="en-US" altLang="en-US"/>
              <a:t>á</a:t>
            </a:r>
            <a:r>
              <a:rPr lang="en-US" altLang="pt-BR"/>
              <a:t>rio e seu estado de login, s</a:t>
            </a:r>
            <a:r>
              <a:rPr lang="en-US" altLang="en-US"/>
              <a:t>ã</a:t>
            </a:r>
            <a:r>
              <a:rPr lang="en-US" altLang="pt-BR"/>
              <a:t>o armazenadas no lado do servidor. </a:t>
            </a:r>
            <a:endParaRPr lang="en-US" altLang="pt-BR"/>
          </a:p>
          <a:p>
            <a:pPr algn="just"/>
            <a:r>
              <a:rPr lang="en-US" altLang="pt-BR"/>
              <a:t>Um identificador </a:t>
            </a:r>
            <a:r>
              <a:rPr lang="en-US" altLang="en-US"/>
              <a:t>ú</a:t>
            </a:r>
            <a:r>
              <a:rPr lang="en-US" altLang="pt-BR"/>
              <a:t>nico para essa sess</a:t>
            </a:r>
            <a:r>
              <a:rPr lang="en-US" altLang="en-US"/>
              <a:t>ã</a:t>
            </a:r>
            <a:r>
              <a:rPr lang="en-US" altLang="pt-BR"/>
              <a:t>o, conhecido como "ID de sess</a:t>
            </a:r>
            <a:r>
              <a:rPr lang="en-US" altLang="en-US"/>
              <a:t>ã</a:t>
            </a:r>
            <a:r>
              <a:rPr lang="en-US" altLang="pt-BR"/>
              <a:t>o", </a:t>
            </a:r>
            <a:r>
              <a:rPr lang="en-US" altLang="en-US"/>
              <a:t>é</a:t>
            </a:r>
            <a:r>
              <a:rPr lang="en-US" altLang="pt-BR"/>
              <a:t> ent</a:t>
            </a:r>
            <a:r>
              <a:rPr lang="en-US" altLang="en-US"/>
              <a:t>ã</a:t>
            </a:r>
            <a:r>
              <a:rPr lang="en-US" altLang="pt-BR"/>
              <a:t>o enviado ao cliente, tipicamente na forma de um cookie HTTP. </a:t>
            </a:r>
            <a:endParaRPr lang="en-US" altLang="pt-BR"/>
          </a:p>
          <a:p>
            <a:pPr algn="just"/>
            <a:r>
              <a:rPr lang="en-US" altLang="pt-BR"/>
              <a:t>Em requisi</a:t>
            </a:r>
            <a:r>
              <a:rPr lang="en-US" altLang="en-US"/>
              <a:t>çõ</a:t>
            </a:r>
            <a:r>
              <a:rPr lang="en-US" altLang="pt-BR"/>
              <a:t>es subsequentes, o cliente envia esse cookie de volta ao servidor, que utiliza o ID de sess</a:t>
            </a:r>
            <a:r>
              <a:rPr lang="en-US" altLang="en-US"/>
              <a:t>ã</a:t>
            </a:r>
            <a:r>
              <a:rPr lang="en-US" altLang="pt-BR"/>
              <a:t>o para recuperar o estado do usu</a:t>
            </a:r>
            <a:r>
              <a:rPr lang="en-US" altLang="en-US"/>
              <a:t>á</a:t>
            </a:r>
            <a:r>
              <a:rPr lang="en-US" altLang="pt-BR"/>
              <a:t>rio e verificar se ele permanece autenticado.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2.1. Autentica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Baseada em Sess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en-US" altLang="pt-BR"/>
              <a:t>Este modelo oferece vantagens como a simplicidade de implementa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para aplica</a:t>
            </a:r>
            <a:r>
              <a:rPr lang="en-US" altLang="en-US"/>
              <a:t>çõ</a:t>
            </a:r>
            <a:r>
              <a:rPr lang="en-US" altLang="pt-BR"/>
              <a:t>es monol</a:t>
            </a:r>
            <a:r>
              <a:rPr lang="en-US" altLang="en-US"/>
              <a:t>í</a:t>
            </a:r>
            <a:r>
              <a:rPr lang="en-US" altLang="pt-BR"/>
              <a:t>ticas, a facilidade de revoga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sess</a:t>
            </a:r>
            <a:r>
              <a:rPr lang="en-US" altLang="en-US"/>
              <a:t>õ</a:t>
            </a:r>
            <a:r>
              <a:rPr lang="en-US" altLang="pt-BR"/>
              <a:t>es (basta invalidar a sess</a:t>
            </a:r>
            <a:r>
              <a:rPr lang="en-US" altLang="en-US"/>
              <a:t>ã</a:t>
            </a:r>
            <a:r>
              <a:rPr lang="en-US" altLang="pt-BR"/>
              <a:t>o no servidor) e o gerenciamento centralizado do estado pelo servidor, o que pode simplificar a l</a:t>
            </a:r>
            <a:r>
              <a:rPr lang="en-US" altLang="en-US"/>
              <a:t>ó</a:t>
            </a:r>
            <a:r>
              <a:rPr lang="en-US" altLang="pt-BR"/>
              <a:t>gica de seguran</a:t>
            </a:r>
            <a:r>
              <a:rPr lang="en-US" altLang="en-US"/>
              <a:t>ç</a:t>
            </a:r>
            <a:r>
              <a:rPr lang="en-US" altLang="pt-BR"/>
              <a:t>a em certos cen</a:t>
            </a:r>
            <a:r>
              <a:rPr lang="en-US" altLang="en-US"/>
              <a:t>á</a:t>
            </a:r>
            <a:r>
              <a:rPr lang="en-US" altLang="pt-BR"/>
              <a:t>rios. </a:t>
            </a:r>
            <a:endParaRPr lang="en-US" altLang="pt-BR"/>
          </a:p>
          <a:p>
            <a:pPr algn="just"/>
            <a:r>
              <a:rPr lang="en-US" altLang="pt-BR"/>
              <a:t>No entanto, 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baseada em sess</a:t>
            </a:r>
            <a:r>
              <a:rPr lang="en-US" altLang="en-US"/>
              <a:t>ã</a:t>
            </a:r>
            <a:r>
              <a:rPr lang="en-US" altLang="pt-BR"/>
              <a:t>o apresenta desafios significativos de escalabilidade horizontal. Sem a necessidade de </a:t>
            </a:r>
            <a:r>
              <a:rPr lang="en-US" altLang="pt-BR" i="1"/>
              <a:t>"sticky sessions"</a:t>
            </a:r>
            <a:r>
              <a:rPr lang="en-US" altLang="pt-BR"/>
              <a:t> (que direcionam o usu</a:t>
            </a:r>
            <a:r>
              <a:rPr lang="en-US" altLang="en-US"/>
              <a:t>á</a:t>
            </a:r>
            <a:r>
              <a:rPr lang="en-US" altLang="pt-BR"/>
              <a:t>rio sempre para o mesmo servidor) ou um armazenamento de sess</a:t>
            </a:r>
            <a:r>
              <a:rPr lang="en-US" altLang="en-US"/>
              <a:t>ã</a:t>
            </a:r>
            <a:r>
              <a:rPr lang="en-US" altLang="pt-BR"/>
              <a:t>o compartilhado (como Redis ou um banco de dados externo), a arquitetura se torna mais complexa. </a:t>
            </a:r>
            <a:endParaRPr lang="en-US" altLang="pt-BR"/>
          </a:p>
          <a:p>
            <a:pPr algn="just"/>
            <a:r>
              <a:rPr lang="en-US" altLang="pt-BR"/>
              <a:t>Al</a:t>
            </a:r>
            <a:r>
              <a:rPr lang="en-US" altLang="en-US"/>
              <a:t>é</a:t>
            </a:r>
            <a:r>
              <a:rPr lang="en-US" altLang="pt-BR"/>
              <a:t>m disso, este tipo de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pode ser vulner</a:t>
            </a:r>
            <a:r>
              <a:rPr lang="en-US" altLang="en-US"/>
              <a:t>á</a:t>
            </a:r>
            <a:r>
              <a:rPr lang="en-US" altLang="pt-BR"/>
              <a:t>vel a ataques de Fixa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Sess</a:t>
            </a:r>
            <a:r>
              <a:rPr lang="en-US" altLang="en-US"/>
              <a:t>ã</a:t>
            </a:r>
            <a:r>
              <a:rPr lang="en-US" altLang="pt-BR"/>
              <a:t>o e CSRF (Cross-Site Request Forgery) se n</a:t>
            </a:r>
            <a:r>
              <a:rPr lang="en-US" altLang="en-US"/>
              <a:t>ã</a:t>
            </a:r>
            <a:r>
              <a:rPr lang="en-US" altLang="pt-BR"/>
              <a:t>o for implementada com as devidas precau</a:t>
            </a:r>
            <a:r>
              <a:rPr lang="en-US" altLang="en-US"/>
              <a:t>çõ</a:t>
            </a:r>
            <a:r>
              <a:rPr lang="en-US" altLang="pt-BR"/>
              <a:t>es de seguran</a:t>
            </a:r>
            <a:r>
              <a:rPr lang="en-US" altLang="en-US"/>
              <a:t>ç</a:t>
            </a:r>
            <a:r>
              <a:rPr lang="en-US" altLang="pt-BR"/>
              <a:t>a.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2.1. Autentica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Baseada em Sess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algn="just"/>
            <a:r>
              <a:rPr lang="en-US" altLang="pt-BR"/>
              <a:t>Exemplo pr</a:t>
            </a:r>
            <a:r>
              <a:rPr lang="en-US" altLang="en-US"/>
              <a:t>á</a:t>
            </a:r>
            <a:r>
              <a:rPr lang="en-US" altLang="pt-BR"/>
              <a:t>tico em Node.js com Passport.js:</a:t>
            </a:r>
            <a:r>
              <a:rPr lang="pt-BR" altLang="en-US"/>
              <a:t> </a:t>
            </a:r>
            <a:endParaRPr lang="en-US" altLang="pt-BR"/>
          </a:p>
          <a:p>
            <a:pPr algn="just"/>
            <a:r>
              <a:rPr lang="en-US" altLang="pt-BR" i="1"/>
              <a:t>https://github.com/profjacques/jwt_session</a:t>
            </a:r>
            <a:endParaRPr lang="en-US" altLang="pt-BR"/>
          </a:p>
          <a:p>
            <a:pPr algn="just"/>
            <a:r>
              <a:rPr lang="en-US" altLang="pt-BR"/>
              <a:t>A implementa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t</a:t>
            </a:r>
            <a:r>
              <a:rPr lang="en-US" altLang="en-US"/>
              <a:t>é</a:t>
            </a:r>
            <a:r>
              <a:rPr lang="en-US" altLang="pt-BR"/>
              <a:t>cnica da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baseada em sess</a:t>
            </a:r>
            <a:r>
              <a:rPr lang="en-US" altLang="en-US"/>
              <a:t>ã</a:t>
            </a:r>
            <a:r>
              <a:rPr lang="en-US" altLang="pt-BR"/>
              <a:t>o </a:t>
            </a:r>
            <a:r>
              <a:rPr lang="en-US" altLang="en-US"/>
              <a:t>é</a:t>
            </a:r>
            <a:r>
              <a:rPr lang="en-US" altLang="pt-BR"/>
              <a:t> apenas parte da equa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A seguran</a:t>
            </a:r>
            <a:r>
              <a:rPr lang="en-US" altLang="en-US"/>
              <a:t>ç</a:t>
            </a:r>
            <a:r>
              <a:rPr lang="en-US" altLang="pt-BR"/>
              <a:t>a efetiva depende da configura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meticulosa do middleware de sess</a:t>
            </a:r>
            <a:r>
              <a:rPr lang="en-US" altLang="en-US"/>
              <a:t>ã</a:t>
            </a:r>
            <a:r>
              <a:rPr lang="en-US" altLang="pt-BR"/>
              <a:t>o e dos atributos do cookie. </a:t>
            </a:r>
            <a:endParaRPr lang="en-US" altLang="pt-BR"/>
          </a:p>
          <a:p>
            <a:pPr algn="just"/>
            <a:r>
              <a:rPr lang="en-US" altLang="pt-BR"/>
              <a:t>O uso de um secret forte para o express-session </a:t>
            </a:r>
            <a:r>
              <a:rPr lang="en-US" altLang="en-US"/>
              <a:t>é</a:t>
            </a:r>
            <a:r>
              <a:rPr lang="en-US" altLang="pt-BR"/>
              <a:t> vital, pois um segredo fraco ou vazado pode permitir que um atacante forje cookies de sess</a:t>
            </a:r>
            <a:r>
              <a:rPr lang="en-US" altLang="en-US"/>
              <a:t>ã</a:t>
            </a:r>
            <a:r>
              <a:rPr lang="en-US" altLang="pt-BR"/>
              <a:t>o v</a:t>
            </a:r>
            <a:r>
              <a:rPr lang="en-US" altLang="en-US"/>
              <a:t>á</a:t>
            </a:r>
            <a:r>
              <a:rPr lang="en-US" altLang="pt-BR"/>
              <a:t>lidos, comprometendo 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</a:t>
            </a:r>
            <a:endParaRPr lang="en-US" altLang="pt-BR"/>
          </a:p>
          <a:p>
            <a:pPr algn="just"/>
            <a:r>
              <a:rPr lang="en-US" altLang="pt-BR"/>
              <a:t>Al</a:t>
            </a:r>
            <a:r>
              <a:rPr lang="en-US" altLang="en-US"/>
              <a:t>é</a:t>
            </a:r>
            <a:r>
              <a:rPr lang="en-US" altLang="pt-BR"/>
              <a:t>m disso, a configura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atributos de seguran</a:t>
            </a:r>
            <a:r>
              <a:rPr lang="en-US" altLang="en-US"/>
              <a:t>ç</a:t>
            </a:r>
            <a:r>
              <a:rPr lang="en-US" altLang="pt-BR"/>
              <a:t>a do cookie, como HttpOnly (para prevenir acesso via JavaScript e XSS), Secure (para garantir que o cookie seja enviado apenas via HTTPS) e SameSite (para mitigar ataques CSRF), </a:t>
            </a:r>
            <a:r>
              <a:rPr lang="en-US" altLang="en-US"/>
              <a:t>é</a:t>
            </a:r>
            <a:r>
              <a:rPr lang="en-US" altLang="pt-BR"/>
              <a:t> crucial. </a:t>
            </a:r>
            <a:endParaRPr lang="en-US" altLang="pt-BR"/>
          </a:p>
          <a:p>
            <a:pPr algn="just"/>
            <a:r>
              <a:rPr lang="en-US" altLang="pt-BR"/>
              <a:t>Negligenciar esses detalhes pode expor 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a vulnerabilidades cr</a:t>
            </a:r>
            <a:r>
              <a:rPr lang="en-US" altLang="en-US"/>
              <a:t>í</a:t>
            </a:r>
            <a:r>
              <a:rPr lang="en-US" altLang="pt-BR"/>
              <a:t>ticas, mesmo que a l</a:t>
            </a:r>
            <a:r>
              <a:rPr lang="en-US" altLang="en-US"/>
              <a:t>ó</a:t>
            </a:r>
            <a:r>
              <a:rPr lang="en-US" altLang="pt-BR"/>
              <a:t>gica de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principal seja robusta.</a:t>
            </a:r>
            <a:endParaRPr lang="en-US" alt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2.2.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Baseada em Token (JWT - JSON Web Tokens)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algn="just"/>
            <a:r>
              <a:rPr lang="en-US" altLang="pt-BR"/>
              <a:t>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baseada em token, notavelmente com JSON Web Tokens (JWTs), </a:t>
            </a:r>
            <a:r>
              <a:rPr lang="en-US" altLang="en-US"/>
              <a:t>é</a:t>
            </a:r>
            <a:r>
              <a:rPr lang="en-US" altLang="pt-BR"/>
              <a:t> uma abordagem stateless. Ap</a:t>
            </a:r>
            <a:r>
              <a:rPr lang="en-US" altLang="en-US"/>
              <a:t>ó</a:t>
            </a:r>
            <a:r>
              <a:rPr lang="en-US" altLang="pt-BR"/>
              <a:t>s o login, o servidor gera um token criptograficamente assinado (o JWT) e o envia ao cliente. </a:t>
            </a:r>
            <a:endParaRPr lang="en-US" altLang="pt-BR"/>
          </a:p>
          <a:p>
            <a:pPr algn="just"/>
            <a:r>
              <a:rPr lang="en-US" altLang="pt-BR"/>
              <a:t>Este token cont</a:t>
            </a:r>
            <a:r>
              <a:rPr lang="en-US" altLang="en-US"/>
              <a:t>é</a:t>
            </a:r>
            <a:r>
              <a:rPr lang="en-US" altLang="pt-BR"/>
              <a:t>m todas as informa</a:t>
            </a:r>
            <a:r>
              <a:rPr lang="en-US" altLang="en-US"/>
              <a:t>çõ</a:t>
            </a:r>
            <a:r>
              <a:rPr lang="en-US" altLang="pt-BR"/>
              <a:t>es necess</a:t>
            </a:r>
            <a:r>
              <a:rPr lang="en-US" altLang="en-US"/>
              <a:t>á</a:t>
            </a:r>
            <a:r>
              <a:rPr lang="en-US" altLang="pt-BR"/>
              <a:t>rias sobre o usu</a:t>
            </a:r>
            <a:r>
              <a:rPr lang="en-US" altLang="en-US"/>
              <a:t>á</a:t>
            </a:r>
            <a:r>
              <a:rPr lang="en-US" altLang="pt-BR"/>
              <a:t>rio (claims) e sua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O cliente armazena o token (geralmente em localStorage ou cookies HttpOnly) e o inclui em cada requisi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subsequente, tipicamente no cabe</a:t>
            </a:r>
            <a:r>
              <a:rPr lang="en-US" altLang="en-US"/>
              <a:t>ç</a:t>
            </a:r>
            <a:r>
              <a:rPr lang="en-US" altLang="pt-BR"/>
              <a:t>alho Authorization como um </a:t>
            </a:r>
            <a:r>
              <a:rPr lang="en-US" altLang="pt-BR" i="1"/>
              <a:t>"Bearer Token"</a:t>
            </a:r>
            <a:r>
              <a:rPr lang="en-US" altLang="pt-BR"/>
              <a:t>. </a:t>
            </a:r>
            <a:endParaRPr lang="en-US" altLang="pt-BR"/>
          </a:p>
          <a:p>
            <a:pPr algn="just"/>
            <a:r>
              <a:rPr lang="en-US" altLang="pt-BR"/>
              <a:t>O servidor, ao receber uma requisi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o, valida a assinatura do JWT para garantir sua integridade e autenticidade, sem precisar consultar um armazenamento de sess</a:t>
            </a:r>
            <a:r>
              <a:rPr lang="en-US" altLang="en-US"/>
              <a:t>ã</a:t>
            </a:r>
            <a:r>
              <a:rPr lang="en-US" altLang="pt-BR"/>
              <a:t>o no servidor.</a:t>
            </a:r>
            <a:endParaRPr lang="en-US" altLang="pt-BR"/>
          </a:p>
          <a:p>
            <a:pPr algn="just"/>
            <a:r>
              <a:rPr lang="en-US" altLang="pt-BR">
                <a:sym typeface="+mn-ea"/>
              </a:rPr>
              <a:t>A estrutura de um JWT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compacta e consiste em tr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s partes, separadas por pontos (.):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2.2. Autentica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Baseada em Token (JWT - JSON Web Tokens)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Header (Cabe</a:t>
            </a:r>
            <a:r>
              <a:rPr lang="en-US" altLang="en-US" sz="1800" b="1"/>
              <a:t>ç</a:t>
            </a:r>
            <a:r>
              <a:rPr lang="en-US" altLang="pt-BR" sz="1800" b="1"/>
              <a:t>alho)</a:t>
            </a:r>
            <a:r>
              <a:rPr lang="en-US" altLang="pt-BR" sz="1800"/>
              <a:t>: Cont</a:t>
            </a:r>
            <a:r>
              <a:rPr lang="en-US" altLang="en-US" sz="1800"/>
              <a:t>é</a:t>
            </a:r>
            <a:r>
              <a:rPr lang="en-US" altLang="pt-BR" sz="1800"/>
              <a:t>m o tipo do token (JWT) e o algoritmo de assinatura utilizado (ex: HS256, RS256).</a:t>
            </a:r>
            <a:endParaRPr lang="en-US" altLang="pt-BR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Payload (Carga </a:t>
            </a:r>
            <a:r>
              <a:rPr lang="en-US" altLang="en-US" sz="1800" b="1"/>
              <a:t>Ú</a:t>
            </a:r>
            <a:r>
              <a:rPr lang="en-US" altLang="pt-BR" sz="1800" b="1"/>
              <a:t>til)</a:t>
            </a:r>
            <a:r>
              <a:rPr lang="en-US" altLang="pt-BR" sz="1800"/>
              <a:t>: Cont</a:t>
            </a:r>
            <a:r>
              <a:rPr lang="en-US" altLang="en-US" sz="1800"/>
              <a:t>é</a:t>
            </a:r>
            <a:r>
              <a:rPr lang="en-US" altLang="pt-BR" sz="1800"/>
              <a:t>m as </a:t>
            </a:r>
            <a:r>
              <a:rPr lang="en-US" altLang="pt-BR" sz="1800" i="1"/>
              <a:t>"claims"</a:t>
            </a:r>
            <a:r>
              <a:rPr lang="en-US" altLang="pt-BR" sz="1800"/>
              <a:t> (reivindica</a:t>
            </a:r>
            <a:r>
              <a:rPr lang="en-US" altLang="en-US" sz="1800"/>
              <a:t>çõ</a:t>
            </a:r>
            <a:r>
              <a:rPr lang="en-US" altLang="pt-BR" sz="1800"/>
              <a:t>es), que s</a:t>
            </a:r>
            <a:r>
              <a:rPr lang="en-US" altLang="en-US" sz="1800"/>
              <a:t>ã</a:t>
            </a:r>
            <a:r>
              <a:rPr lang="en-US" altLang="pt-BR" sz="1800"/>
              <a:t>o informa</a:t>
            </a:r>
            <a:r>
              <a:rPr lang="en-US" altLang="en-US" sz="1800"/>
              <a:t>çõ</a:t>
            </a:r>
            <a:r>
              <a:rPr lang="en-US" altLang="pt-BR" sz="1800"/>
              <a:t>es sobre o usu</a:t>
            </a:r>
            <a:r>
              <a:rPr lang="en-US" altLang="en-US" sz="1800"/>
              <a:t>á</a:t>
            </a:r>
            <a:r>
              <a:rPr lang="en-US" altLang="pt-BR" sz="1800"/>
              <a:t>rio (como ID, nome, fun</a:t>
            </a:r>
            <a:r>
              <a:rPr lang="en-US" altLang="en-US" sz="1800"/>
              <a:t>çõ</a:t>
            </a:r>
            <a:r>
              <a:rPr lang="en-US" altLang="pt-BR" sz="1800"/>
              <a:t>es) e metadados do token (como data de expira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exp e emissor iss). Essas claims podem ser usadas para decis</a:t>
            </a:r>
            <a:r>
              <a:rPr lang="en-US" altLang="en-US" sz="1800"/>
              <a:t>õ</a:t>
            </a:r>
            <a:r>
              <a:rPr lang="en-US" altLang="pt-BR" sz="1800"/>
              <a:t>es de autoriza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o.</a:t>
            </a:r>
            <a:endParaRPr lang="en-US" altLang="pt-BR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Signature (Assinatura)</a:t>
            </a:r>
            <a:r>
              <a:rPr lang="en-US" altLang="pt-BR" sz="1800"/>
              <a:t>: Criada a partir do cabe</a:t>
            </a:r>
            <a:r>
              <a:rPr lang="en-US" altLang="en-US" sz="1800"/>
              <a:t>ç</a:t>
            </a:r>
            <a:r>
              <a:rPr lang="en-US" altLang="pt-BR" sz="1800"/>
              <a:t>alho codificado, do </a:t>
            </a:r>
            <a:r>
              <a:rPr lang="en-US" altLang="pt-BR" sz="1800" i="1"/>
              <a:t>payload </a:t>
            </a:r>
            <a:r>
              <a:rPr lang="en-US" altLang="pt-BR" sz="1800"/>
              <a:t>codificado, de um segredo (ou par de chaves p</a:t>
            </a:r>
            <a:r>
              <a:rPr lang="en-US" altLang="en-US" sz="1800"/>
              <a:t>ú</a:t>
            </a:r>
            <a:r>
              <a:rPr lang="en-US" altLang="pt-BR" sz="1800"/>
              <a:t>blica/privada) e do algoritmo especificado no cabe</a:t>
            </a:r>
            <a:r>
              <a:rPr lang="en-US" altLang="en-US" sz="1800"/>
              <a:t>ç</a:t>
            </a:r>
            <a:r>
              <a:rPr lang="en-US" altLang="pt-BR" sz="1800"/>
              <a:t>alho. A assinatura garante que o token n</a:t>
            </a:r>
            <a:r>
              <a:rPr lang="en-US" altLang="en-US" sz="1800"/>
              <a:t>ã</a:t>
            </a:r>
            <a:r>
              <a:rPr lang="en-US" altLang="pt-BR" sz="1800"/>
              <a:t>o foi adulterado em tr</a:t>
            </a:r>
            <a:r>
              <a:rPr lang="en-US" altLang="en-US" sz="1800"/>
              <a:t>â</a:t>
            </a:r>
            <a:r>
              <a:rPr lang="en-US" altLang="pt-BR" sz="1800"/>
              <a:t>nsito.</a:t>
            </a:r>
            <a:endParaRPr lang="en-US" altLang="pt-BR" sz="1800"/>
          </a:p>
          <a:p>
            <a:pPr algn="just"/>
            <a:endParaRPr lang="en-US" altLang="pt-BR" sz="1800"/>
          </a:p>
          <a:p>
            <a:pPr algn="just"/>
            <a:r>
              <a:rPr lang="en-US" altLang="pt-BR" sz="1800"/>
              <a:t>As vantagens da autentica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baseada em JWT incluem a escalabilidade, pois </a:t>
            </a:r>
            <a:r>
              <a:rPr lang="en-US" altLang="en-US" sz="1800"/>
              <a:t>é</a:t>
            </a:r>
            <a:r>
              <a:rPr lang="en-US" altLang="pt-BR" sz="1800"/>
              <a:t> stateless e f</a:t>
            </a:r>
            <a:r>
              <a:rPr lang="en-US" altLang="en-US" sz="1800"/>
              <a:t>á</a:t>
            </a:r>
            <a:r>
              <a:rPr lang="en-US" altLang="pt-BR" sz="1800"/>
              <a:t>cil de distribuir entre m</a:t>
            </a:r>
            <a:r>
              <a:rPr lang="en-US" altLang="en-US" sz="1800"/>
              <a:t>ú</a:t>
            </a:r>
            <a:r>
              <a:rPr lang="en-US" altLang="pt-BR" sz="1800"/>
              <a:t>ltiplos servidores, o suporte a autentica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entre dom</a:t>
            </a:r>
            <a:r>
              <a:rPr lang="en-US" altLang="en-US" sz="1800"/>
              <a:t>í</a:t>
            </a:r>
            <a:r>
              <a:rPr lang="en-US" altLang="pt-BR" sz="1800"/>
              <a:t>nios (CORS), o que a torna ideal para APIs e microsservi</a:t>
            </a:r>
            <a:r>
              <a:rPr lang="en-US" altLang="en-US" sz="1800"/>
              <a:t>ç</a:t>
            </a:r>
            <a:r>
              <a:rPr lang="en-US" altLang="pt-BR" sz="1800"/>
              <a:t>os, e uma maior confiabilidade em compara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com cookies/sess</a:t>
            </a:r>
            <a:r>
              <a:rPr lang="en-US" altLang="en-US" sz="1800"/>
              <a:t>õ</a:t>
            </a:r>
            <a:r>
              <a:rPr lang="en-US" altLang="pt-BR" sz="1800"/>
              <a:t>es tradicionais em alguns cen</a:t>
            </a:r>
            <a:r>
              <a:rPr lang="en-US" altLang="en-US" sz="1800"/>
              <a:t>á</a:t>
            </a:r>
            <a:r>
              <a:rPr lang="en-US" altLang="pt-BR" sz="1800"/>
              <a:t>rios. </a:t>
            </a:r>
            <a:endParaRPr lang="en-US" altLang="pt-BR" sz="1800"/>
          </a:p>
          <a:p>
            <a:pPr algn="just"/>
            <a:r>
              <a:rPr lang="en-US" altLang="pt-BR" sz="1800"/>
              <a:t>Por outro lado, as desvantagens not</a:t>
            </a:r>
            <a:r>
              <a:rPr lang="en-US" altLang="en-US" sz="1800"/>
              <a:t>á</a:t>
            </a:r>
            <a:r>
              <a:rPr lang="en-US" altLang="pt-BR" sz="1800"/>
              <a:t>veis s</a:t>
            </a:r>
            <a:r>
              <a:rPr lang="en-US" altLang="en-US" sz="1800"/>
              <a:t>ã</a:t>
            </a:r>
            <a:r>
              <a:rPr lang="en-US" altLang="pt-BR" sz="1800"/>
              <a:t>o a aus</a:t>
            </a:r>
            <a:r>
              <a:rPr lang="en-US" altLang="en-US" sz="1800"/>
              <a:t>ê</a:t>
            </a:r>
            <a:r>
              <a:rPr lang="en-US" altLang="pt-BR" sz="1800"/>
              <a:t>ncia de um mecanismo de revoga</a:t>
            </a:r>
            <a:r>
              <a:rPr lang="en-US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inerente (o que requer listas de bloqueio para logout ou roubo de token), o tamanho do token (que pode crescer com muitas claims) e a necessidade de manter o segredo de assinatura extremamente seguro.</a:t>
            </a:r>
            <a:endParaRPr lang="en-US" altLang="pt-BR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Exemplo pr</a:t>
            </a:r>
            <a:r>
              <a:rPr lang="en-US" altLang="en-US"/>
              <a:t>á</a:t>
            </a:r>
            <a:r>
              <a:rPr lang="en-US" altLang="pt-BR"/>
              <a:t>tico em Node.js com jsonwebtoken e Express: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en-US" altLang="pt-BR"/>
              <a:t>A biblioteca jsonwebtoken </a:t>
            </a:r>
            <a:r>
              <a:rPr lang="en-US" altLang="en-US"/>
              <a:t>é</a:t>
            </a:r>
            <a:r>
              <a:rPr lang="en-US" altLang="pt-BR"/>
              <a:t> a escolha padr</a:t>
            </a:r>
            <a:r>
              <a:rPr lang="en-US" altLang="en-US"/>
              <a:t>ã</a:t>
            </a:r>
            <a:r>
              <a:rPr lang="en-US" altLang="pt-BR"/>
              <a:t>o para trabalhar com JWTs em Node.js. Para utiliz</a:t>
            </a:r>
            <a:r>
              <a:rPr lang="en-US" altLang="en-US"/>
              <a:t>á</a:t>
            </a:r>
            <a:r>
              <a:rPr lang="en-US" altLang="pt-BR"/>
              <a:t>-la, basta instal</a:t>
            </a:r>
            <a:r>
              <a:rPr lang="en-US" altLang="en-US"/>
              <a:t>á</a:t>
            </a:r>
            <a:r>
              <a:rPr lang="en-US" altLang="pt-BR"/>
              <a:t>-la junto com o Express: npm install jsonwebtoken express.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/>
              <a:t>No endpoint de login (/api/login), ap</a:t>
            </a:r>
            <a:r>
              <a:rPr lang="en-US" altLang="en-US"/>
              <a:t>ó</a:t>
            </a:r>
            <a:r>
              <a:rPr lang="en-US" altLang="pt-BR"/>
              <a:t>s validar as credenciais do usu</a:t>
            </a:r>
            <a:r>
              <a:rPr lang="en-US" altLang="en-US"/>
              <a:t>á</a:t>
            </a:r>
            <a:r>
              <a:rPr lang="en-US" altLang="pt-BR"/>
              <a:t>rio (em uma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real, isso envolveria a compara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da senha com um hash armazenado usando bcrypt), um objeto user (com id, username, email) </a:t>
            </a:r>
            <a:r>
              <a:rPr lang="en-US" altLang="en-US"/>
              <a:t>é</a:t>
            </a:r>
            <a:r>
              <a:rPr lang="en-US" altLang="pt-BR"/>
              <a:t> criado. </a:t>
            </a:r>
            <a:endParaRPr lang="en-US" altLang="pt-BR"/>
          </a:p>
          <a:p>
            <a:pPr algn="just"/>
            <a:r>
              <a:rPr lang="en-US" altLang="pt-BR"/>
              <a:t>A fun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jwt.sign() </a:t>
            </a:r>
            <a:r>
              <a:rPr lang="en-US" altLang="en-US"/>
              <a:t>é</a:t>
            </a:r>
            <a:r>
              <a:rPr lang="en-US" altLang="pt-BR"/>
              <a:t> ent</a:t>
            </a:r>
            <a:r>
              <a:rPr lang="en-US" altLang="en-US"/>
              <a:t>ã</a:t>
            </a:r>
            <a:r>
              <a:rPr lang="en-US" altLang="pt-BR"/>
              <a:t>o utilizada para gerar o token, passando o objeto do usu</a:t>
            </a:r>
            <a:r>
              <a:rPr lang="en-US" altLang="en-US"/>
              <a:t>á</a:t>
            </a:r>
            <a:r>
              <a:rPr lang="en-US" altLang="pt-BR"/>
              <a:t>rio, uma secretkey (que deve ser uma vari</a:t>
            </a:r>
            <a:r>
              <a:rPr lang="en-US" altLang="en-US"/>
              <a:t>á</a:t>
            </a:r>
            <a:r>
              <a:rPr lang="en-US" altLang="pt-BR"/>
              <a:t>vel de ambiente complexa e segura em produ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o) e um tempo de expira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(expiresIn: '1h'). O token gerado </a:t>
            </a:r>
            <a:r>
              <a:rPr lang="en-US" altLang="en-US"/>
              <a:t>é</a:t>
            </a:r>
            <a:r>
              <a:rPr lang="en-US" altLang="pt-BR"/>
              <a:t> ent</a:t>
            </a:r>
            <a:r>
              <a:rPr lang="en-US" altLang="en-US"/>
              <a:t>ã</a:t>
            </a:r>
            <a:r>
              <a:rPr lang="en-US" altLang="pt-BR"/>
              <a:t>o retornado ao cliente em formato JSON.</a:t>
            </a:r>
            <a:endParaRPr lang="en-US" alt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Exemplo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tico em Node.js com jsonwebtoken e Express: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52345" y="1825625"/>
            <a:ext cx="73050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2.2. Autentica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Baseada em Token (JWT - JSON Web Tokens)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pt-BR"/>
              <a:t>Para proteger rotas, um middleware verifyToken </a:t>
            </a:r>
            <a:r>
              <a:rPr lang="en-US" altLang="en-US"/>
              <a:t>é</a:t>
            </a:r>
            <a:r>
              <a:rPr lang="en-US" altLang="pt-BR"/>
              <a:t> implementado. Ele extrai o token do cabe</a:t>
            </a:r>
            <a:r>
              <a:rPr lang="en-US" altLang="en-US"/>
              <a:t>ç</a:t>
            </a:r>
            <a:r>
              <a:rPr lang="en-US" altLang="pt-BR"/>
              <a:t>alho Authorization (que deve estar no formato Bearer &lt;token&gt;), verifica sua exist</a:t>
            </a:r>
            <a:r>
              <a:rPr lang="en-US" altLang="en-US"/>
              <a:t>ê</a:t>
            </a:r>
            <a:r>
              <a:rPr lang="en-US" altLang="pt-BR"/>
              <a:t>ncia e, em seguida, utiliza jwt.verify() com a mesma secretkey para validar o token. </a:t>
            </a:r>
            <a:endParaRPr lang="en-US" altLang="pt-BR"/>
          </a:p>
          <a:p>
            <a:pPr algn="just"/>
            <a:r>
              <a:rPr lang="en-US" altLang="pt-BR"/>
              <a:t>Se o token for v</a:t>
            </a:r>
            <a:r>
              <a:rPr lang="en-US" altLang="en-US"/>
              <a:t>á</a:t>
            </a:r>
            <a:r>
              <a:rPr lang="en-US" altLang="pt-BR"/>
              <a:t>lido, os dados do usu</a:t>
            </a:r>
            <a:r>
              <a:rPr lang="en-US" altLang="en-US"/>
              <a:t>á</a:t>
            </a:r>
            <a:r>
              <a:rPr lang="en-US" altLang="pt-BR"/>
              <a:t>rio (o payload do token) s</a:t>
            </a:r>
            <a:r>
              <a:rPr lang="en-US" altLang="en-US"/>
              <a:t>ã</a:t>
            </a:r>
            <a:r>
              <a:rPr lang="en-US" altLang="pt-BR"/>
              <a:t>o anexados à requisi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(por exemplo, em req.user ou req.authData), e a requisi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prossegue para o pr</a:t>
            </a:r>
            <a:r>
              <a:rPr lang="en-US" altLang="en-US"/>
              <a:t>ó</a:t>
            </a:r>
            <a:r>
              <a:rPr lang="en-US" altLang="pt-BR"/>
              <a:t>ximo middleware ou handler de rota. </a:t>
            </a:r>
            <a:endParaRPr lang="en-US" altLang="pt-BR"/>
          </a:p>
          <a:p>
            <a:pPr algn="just"/>
            <a:r>
              <a:rPr lang="en-US" altLang="pt-BR"/>
              <a:t>Caso contr</a:t>
            </a:r>
            <a:r>
              <a:rPr lang="en-US" altLang="en-US"/>
              <a:t>á</a:t>
            </a:r>
            <a:r>
              <a:rPr lang="en-US" altLang="pt-BR"/>
              <a:t>rio, retorna um erro 403 Forbidden, indicando que o token </a:t>
            </a:r>
            <a:r>
              <a:rPr lang="en-US" altLang="en-US"/>
              <a:t>é</a:t>
            </a:r>
            <a:r>
              <a:rPr lang="en-US" altLang="pt-BR"/>
              <a:t> inv</a:t>
            </a:r>
            <a:r>
              <a:rPr lang="en-US" altLang="en-US"/>
              <a:t>á</a:t>
            </a:r>
            <a:r>
              <a:rPr lang="en-US" altLang="pt-BR"/>
              <a:t>lido ou n</a:t>
            </a:r>
            <a:r>
              <a:rPr lang="en-US" altLang="en-US"/>
              <a:t>ã</a:t>
            </a:r>
            <a:r>
              <a:rPr lang="en-US" altLang="pt-BR"/>
              <a:t>o foi fornecido.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Exemplo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tico em Node.js com jsonwebtoken e Express: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6575" y="1825625"/>
            <a:ext cx="56565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2.2. Autentica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Baseada em Token (JWT - JSON Web Tokens)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algn="just"/>
            <a:r>
              <a:rPr lang="en-US" altLang="pt-BR"/>
              <a:t>A capacidade dos JWTs de transportar informa</a:t>
            </a:r>
            <a:r>
              <a:rPr lang="en-US" altLang="en-US"/>
              <a:t>çõ</a:t>
            </a:r>
            <a:r>
              <a:rPr lang="en-US" altLang="pt-BR"/>
              <a:t>es de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diretamente no seu payload, informando o servidor sobre "quais rotas, servi</a:t>
            </a:r>
            <a:r>
              <a:rPr lang="en-US" altLang="en-US"/>
              <a:t>ç</a:t>
            </a:r>
            <a:r>
              <a:rPr lang="en-US" altLang="pt-BR"/>
              <a:t>os e recursos o usu</a:t>
            </a:r>
            <a:r>
              <a:rPr lang="en-US" altLang="en-US"/>
              <a:t>á</a:t>
            </a:r>
            <a:r>
              <a:rPr lang="en-US" altLang="pt-BR"/>
              <a:t>rio tem permiss</a:t>
            </a:r>
            <a:r>
              <a:rPr lang="en-US" altLang="en-US"/>
              <a:t>ã</a:t>
            </a:r>
            <a:r>
              <a:rPr lang="en-US" altLang="pt-BR"/>
              <a:t>o para acessar", </a:t>
            </a:r>
            <a:r>
              <a:rPr lang="en-US" altLang="en-US"/>
              <a:t>é</a:t>
            </a:r>
            <a:r>
              <a:rPr lang="en-US" altLang="pt-BR"/>
              <a:t> uma caracter</a:t>
            </a:r>
            <a:r>
              <a:rPr lang="en-US" altLang="en-US"/>
              <a:t>í</a:t>
            </a:r>
            <a:r>
              <a:rPr lang="en-US" altLang="pt-BR"/>
              <a:t>stica de grande valor. </a:t>
            </a:r>
            <a:endParaRPr lang="en-US" altLang="pt-BR"/>
          </a:p>
          <a:p>
            <a:pPr algn="just"/>
            <a:r>
              <a:rPr lang="en-US" altLang="pt-BR"/>
              <a:t>Isso permite que o servidor de recursos tome decis</a:t>
            </a:r>
            <a:r>
              <a:rPr lang="en-US" altLang="en-US"/>
              <a:t>õ</a:t>
            </a:r>
            <a:r>
              <a:rPr lang="en-US" altLang="pt-BR"/>
              <a:t>es de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sem a necessidade de consultar um banco de dados ou um armazenamento de sess</a:t>
            </a:r>
            <a:r>
              <a:rPr lang="en-US" altLang="en-US"/>
              <a:t>ã</a:t>
            </a:r>
            <a:r>
              <a:rPr lang="en-US" altLang="pt-BR"/>
              <a:t>o centralizado para cada requisi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Essa caracter</a:t>
            </a:r>
            <a:r>
              <a:rPr lang="en-US" altLang="en-US"/>
              <a:t>í</a:t>
            </a:r>
            <a:r>
              <a:rPr lang="en-US" altLang="pt-BR"/>
              <a:t>stica, que torna o sistema inerentemente mais escal</a:t>
            </a:r>
            <a:r>
              <a:rPr lang="en-US" altLang="en-US"/>
              <a:t>á</a:t>
            </a:r>
            <a:r>
              <a:rPr lang="en-US" altLang="pt-BR"/>
              <a:t>vel e eficiente, </a:t>
            </a:r>
            <a:r>
              <a:rPr lang="en-US" altLang="en-US"/>
              <a:t>é</a:t>
            </a:r>
            <a:r>
              <a:rPr lang="en-US" altLang="pt-BR"/>
              <a:t> particularmente vantajosa para arquiteturas distribu</a:t>
            </a:r>
            <a:r>
              <a:rPr lang="en-US" altLang="en-US"/>
              <a:t>í</a:t>
            </a:r>
            <a:r>
              <a:rPr lang="en-US" altLang="pt-BR"/>
              <a:t>das, como microsservi</a:t>
            </a:r>
            <a:r>
              <a:rPr lang="en-US" altLang="en-US"/>
              <a:t>ç</a:t>
            </a:r>
            <a:r>
              <a:rPr lang="en-US" altLang="pt-BR"/>
              <a:t>os e APIs, onde a comunica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entre servi</a:t>
            </a:r>
            <a:r>
              <a:rPr lang="en-US" altLang="en-US"/>
              <a:t>ç</a:t>
            </a:r>
            <a:r>
              <a:rPr lang="en-US" altLang="pt-BR"/>
              <a:t>os deve ser o mais leve poss</a:t>
            </a:r>
            <a:r>
              <a:rPr lang="en-US" altLang="en-US"/>
              <a:t>í</a:t>
            </a:r>
            <a:r>
              <a:rPr lang="en-US" altLang="pt-BR"/>
              <a:t>vel. </a:t>
            </a:r>
            <a:endParaRPr lang="en-US" altLang="pt-BR"/>
          </a:p>
          <a:p>
            <a:pPr algn="just"/>
            <a:r>
              <a:rPr lang="en-US" altLang="pt-BR"/>
              <a:t>A natureza stateless dos JWTs </a:t>
            </a:r>
            <a:r>
              <a:rPr lang="en-US" altLang="en-US"/>
              <a:t>é</a:t>
            </a:r>
            <a:r>
              <a:rPr lang="en-US" altLang="pt-BR"/>
              <a:t> uma vantagem arquitetural significativa, especialmente em ambientes de nuvem e microsservi</a:t>
            </a:r>
            <a:r>
              <a:rPr lang="en-US" altLang="en-US"/>
              <a:t>ç</a:t>
            </a:r>
            <a:r>
              <a:rPr lang="en-US" altLang="pt-BR"/>
              <a:t>os, onde a escalabilidade horizontal e a resili</a:t>
            </a:r>
            <a:r>
              <a:rPr lang="en-US" altLang="en-US"/>
              <a:t>ê</a:t>
            </a:r>
            <a:r>
              <a:rPr lang="en-US" altLang="pt-BR"/>
              <a:t>ncia s</a:t>
            </a:r>
            <a:r>
              <a:rPr lang="en-US" altLang="en-US"/>
              <a:t>ã</a:t>
            </a:r>
            <a:r>
              <a:rPr lang="en-US" altLang="pt-BR"/>
              <a:t>o primordiais, contrastando diretamente com os desafios de escalabilidade da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baseada em sess</a:t>
            </a:r>
            <a:r>
              <a:rPr lang="en-US" altLang="en-US"/>
              <a:t>ã</a:t>
            </a:r>
            <a:r>
              <a:rPr lang="en-US" altLang="pt-BR"/>
              <a:t>o.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2.2. Autentica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Baseada em Token (JWT - JSON Web Tokens)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algn="just"/>
            <a:r>
              <a:rPr lang="en-US" altLang="pt-BR"/>
              <a:t>A seguran</a:t>
            </a:r>
            <a:r>
              <a:rPr lang="en-US" altLang="en-US"/>
              <a:t>ç</a:t>
            </a:r>
            <a:r>
              <a:rPr lang="en-US" altLang="pt-BR"/>
              <a:t>a dos JWTs depende inteiramente da confidencialidade do segredo de assinatura. O uso de uma secretkey comprometida permite que um atacante forje tokens v</a:t>
            </a:r>
            <a:r>
              <a:rPr lang="en-US" altLang="en-US"/>
              <a:t>á</a:t>
            </a:r>
            <a:r>
              <a:rPr lang="en-US" altLang="pt-BR"/>
              <a:t>lidos e obtenha acesso irrestrito ao sistema. </a:t>
            </a:r>
            <a:r>
              <a:rPr lang="en-US" altLang="en-US"/>
              <a:t>É</a:t>
            </a:r>
            <a:r>
              <a:rPr lang="en-US" altLang="pt-BR"/>
              <a:t> uma falha de seguran</a:t>
            </a:r>
            <a:r>
              <a:rPr lang="en-US" altLang="en-US"/>
              <a:t>ç</a:t>
            </a:r>
            <a:r>
              <a:rPr lang="en-US" altLang="pt-BR"/>
              <a:t>a grave que deve ser evitada a todo custo, utilizando vari</a:t>
            </a:r>
            <a:r>
              <a:rPr lang="en-US" altLang="en-US"/>
              <a:t>á</a:t>
            </a:r>
            <a:r>
              <a:rPr lang="en-US" altLang="pt-BR"/>
              <a:t>veis de ambiente e pr</a:t>
            </a:r>
            <a:r>
              <a:rPr lang="en-US" altLang="en-US"/>
              <a:t>á</a:t>
            </a:r>
            <a:r>
              <a:rPr lang="en-US" altLang="pt-BR"/>
              <a:t>ticas de gerenciamento de segredos rigorosas. </a:t>
            </a:r>
            <a:endParaRPr lang="en-US" altLang="pt-BR"/>
          </a:p>
          <a:p>
            <a:pPr algn="just"/>
            <a:r>
              <a:rPr lang="en-US" altLang="pt-BR"/>
              <a:t>Al</a:t>
            </a:r>
            <a:r>
              <a:rPr lang="en-US" altLang="en-US"/>
              <a:t>é</a:t>
            </a:r>
            <a:r>
              <a:rPr lang="en-US" altLang="pt-BR"/>
              <a:t>m disso, por padr</a:t>
            </a:r>
            <a:r>
              <a:rPr lang="en-US" altLang="en-US"/>
              <a:t>ã</a:t>
            </a:r>
            <a:r>
              <a:rPr lang="en-US" altLang="pt-BR"/>
              <a:t>o, os JWTs n</a:t>
            </a:r>
            <a:r>
              <a:rPr lang="en-US" altLang="en-US"/>
              <a:t>ã</a:t>
            </a:r>
            <a:r>
              <a:rPr lang="en-US" altLang="pt-BR"/>
              <a:t>o possuem um mecanismo de revoga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Isso significa que um token emitido e v</a:t>
            </a:r>
            <a:r>
              <a:rPr lang="en-US" altLang="en-US"/>
              <a:t>á</a:t>
            </a:r>
            <a:r>
              <a:rPr lang="en-US" altLang="pt-BR"/>
              <a:t>lido permanecer</a:t>
            </a:r>
            <a:r>
              <a:rPr lang="en-US" altLang="en-US"/>
              <a:t>á</a:t>
            </a:r>
            <a:r>
              <a:rPr lang="en-US" altLang="pt-BR"/>
              <a:t> v</a:t>
            </a:r>
            <a:r>
              <a:rPr lang="en-US" altLang="en-US"/>
              <a:t>á</a:t>
            </a:r>
            <a:r>
              <a:rPr lang="en-US" altLang="pt-BR"/>
              <a:t>lido at</a:t>
            </a:r>
            <a:r>
              <a:rPr lang="en-US" altLang="en-US"/>
              <a:t>é</a:t>
            </a:r>
            <a:r>
              <a:rPr lang="en-US" altLang="pt-BR"/>
              <a:t> sua expira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o, mesmo que o usu</a:t>
            </a:r>
            <a:r>
              <a:rPr lang="en-US" altLang="en-US"/>
              <a:t>á</a:t>
            </a:r>
            <a:r>
              <a:rPr lang="en-US" altLang="pt-BR"/>
              <a:t>rio fa</a:t>
            </a:r>
            <a:r>
              <a:rPr lang="en-US" altLang="en-US"/>
              <a:t>ç</a:t>
            </a:r>
            <a:r>
              <a:rPr lang="en-US" altLang="pt-BR"/>
              <a:t>a logout ou suas permiss</a:t>
            </a:r>
            <a:r>
              <a:rPr lang="en-US" altLang="en-US"/>
              <a:t>õ</a:t>
            </a:r>
            <a:r>
              <a:rPr lang="en-US" altLang="pt-BR"/>
              <a:t>es sejam alteradas. </a:t>
            </a:r>
            <a:endParaRPr lang="en-US" altLang="pt-BR"/>
          </a:p>
          <a:p>
            <a:pPr algn="just"/>
            <a:r>
              <a:rPr lang="en-US" altLang="pt-BR"/>
              <a:t>Para lidar com essa limita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o, </a:t>
            </a:r>
            <a:r>
              <a:rPr lang="en-US" altLang="en-US"/>
              <a:t>é</a:t>
            </a:r>
            <a:r>
              <a:rPr lang="en-US" altLang="pt-BR"/>
              <a:t> necess</a:t>
            </a:r>
            <a:r>
              <a:rPr lang="en-US" altLang="en-US"/>
              <a:t>á</a:t>
            </a:r>
            <a:r>
              <a:rPr lang="en-US" altLang="pt-BR"/>
              <a:t>rio implementar uma "blocklist" (lista de bloqueio) de tokens, adicionando uma camada de estado que o JWT por si s</a:t>
            </a:r>
            <a:r>
              <a:rPr lang="en-US" altLang="en-US"/>
              <a:t>ó</a:t>
            </a:r>
            <a:r>
              <a:rPr lang="en-US" altLang="pt-BR"/>
              <a:t> tenta evitar. Alternativamente, pode-se usar tokens de curta dura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combinados com refresh tokens, que s</a:t>
            </a:r>
            <a:r>
              <a:rPr lang="en-US" altLang="en-US"/>
              <a:t>ã</a:t>
            </a:r>
            <a:r>
              <a:rPr lang="en-US" altLang="pt-BR"/>
              <a:t>o mais longos e armazenados de forma mais segura. </a:t>
            </a:r>
            <a:endParaRPr lang="en-US" altLang="pt-BR"/>
          </a:p>
          <a:p>
            <a:pPr algn="just"/>
            <a:r>
              <a:rPr lang="en-US" altLang="pt-BR"/>
              <a:t>A aus</a:t>
            </a:r>
            <a:r>
              <a:rPr lang="en-US" altLang="en-US"/>
              <a:t>ê</a:t>
            </a:r>
            <a:r>
              <a:rPr lang="en-US" altLang="pt-BR"/>
              <a:t>ncia de um mecanismo de revoga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nativo exige que os desenvolvedores implementem solu</a:t>
            </a:r>
            <a:r>
              <a:rPr lang="en-US" altLang="en-US"/>
              <a:t>çõ</a:t>
            </a:r>
            <a:r>
              <a:rPr lang="en-US" altLang="pt-BR"/>
              <a:t>es adicionais para gerenciar o ciclo de vida dos tokens de forma segura, adicionando complexidade ao que </a:t>
            </a:r>
            <a:r>
              <a:rPr lang="en-US" altLang="en-US"/>
              <a:t>é</a:t>
            </a:r>
            <a:r>
              <a:rPr lang="en-US" altLang="pt-BR"/>
              <a:t>, à primeira vista, uma solu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simples.</a:t>
            </a:r>
            <a:endParaRPr lang="en-US" altLang="pt-BR"/>
          </a:p>
          <a:p>
            <a:pPr algn="just"/>
            <a:endParaRPr lang="en-US" alt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pt-BR"/>
              <a:t>2.3. OAuth 2.0 e OpenID Connect (OIDC)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en-US" altLang="pt-BR"/>
              <a:t>OAuth 2.0 e OpenID Connect (OIDC) s</a:t>
            </a:r>
            <a:r>
              <a:rPr lang="en-US" altLang="en-US"/>
              <a:t>ã</a:t>
            </a:r>
            <a:r>
              <a:rPr lang="en-US" altLang="pt-BR"/>
              <a:t>o protocolos amplamente utilizados para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em aplica</a:t>
            </a:r>
            <a:r>
              <a:rPr lang="en-US" altLang="en-US"/>
              <a:t>çõ</a:t>
            </a:r>
            <a:r>
              <a:rPr lang="en-US" altLang="pt-BR"/>
              <a:t>es web modernas.</a:t>
            </a:r>
            <a:endParaRPr lang="en-US" altLang="pt-BR"/>
          </a:p>
          <a:p>
            <a:pPr algn="just"/>
            <a:endParaRPr lang="en-US" altLang="pt-BR" b="1"/>
          </a:p>
          <a:p>
            <a:pPr algn="just"/>
            <a:r>
              <a:rPr lang="en-US" altLang="pt-BR" b="1"/>
              <a:t>OAuth 2.0 (Open Authorization)</a:t>
            </a:r>
            <a:r>
              <a:rPr lang="en-US" altLang="pt-BR"/>
              <a:t>: </a:t>
            </a:r>
            <a:r>
              <a:rPr lang="en-US" altLang="en-US"/>
              <a:t>É</a:t>
            </a:r>
            <a:r>
              <a:rPr lang="en-US" altLang="pt-BR"/>
              <a:t> um protocolo de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que permite que uma aplica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(cliente) obtenha acesso limitado a recursos protegidos em um servidor de recursos (Resource Server) em nome de um usu</a:t>
            </a:r>
            <a:r>
              <a:rPr lang="en-US" altLang="en-US"/>
              <a:t>á</a:t>
            </a:r>
            <a:r>
              <a:rPr lang="en-US" altLang="pt-BR"/>
              <a:t>rio (Resource Owner), sem que o cliente precise das credenciais do usu</a:t>
            </a:r>
            <a:r>
              <a:rPr lang="en-US" altLang="en-US"/>
              <a:t>á</a:t>
            </a:r>
            <a:r>
              <a:rPr lang="en-US" altLang="pt-BR"/>
              <a:t>rio. </a:t>
            </a:r>
            <a:r>
              <a:rPr lang="en-US" altLang="en-US"/>
              <a:t>É</a:t>
            </a:r>
            <a:r>
              <a:rPr lang="en-US" altLang="pt-BR"/>
              <a:t> um protocolo de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delegada. Por exemplo, </a:t>
            </a:r>
            <a:r>
              <a:rPr lang="en-US" altLang="en-US"/>
              <a:t>é</a:t>
            </a:r>
            <a:r>
              <a:rPr lang="en-US" altLang="pt-BR"/>
              <a:t> o que permite que um aplicativo de terceiros acesse seus e-mails do Google sem que voc</a:t>
            </a:r>
            <a:r>
              <a:rPr lang="en-US" altLang="en-US"/>
              <a:t>ê</a:t>
            </a:r>
            <a:r>
              <a:rPr lang="en-US" altLang="pt-BR"/>
              <a:t> precise fornecer sua senha do Google diretamente ao aplicativo.</a:t>
            </a:r>
            <a:endParaRPr lang="en-US" alt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2.3. OAuth 2.0 e OpenID Connect (OIDC)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algn="just"/>
            <a:r>
              <a:rPr lang="en-US" altLang="pt-BR" b="1"/>
              <a:t>OpenID Connect (OIDC)</a:t>
            </a:r>
            <a:r>
              <a:rPr lang="en-US" altLang="pt-BR"/>
              <a:t>: </a:t>
            </a:r>
            <a:r>
              <a:rPr lang="en-US" altLang="en-US"/>
              <a:t>É</a:t>
            </a:r>
            <a:r>
              <a:rPr lang="en-US" altLang="pt-BR"/>
              <a:t> uma camada de identidade constru</a:t>
            </a:r>
            <a:r>
              <a:rPr lang="en-US" altLang="en-US"/>
              <a:t>í</a:t>
            </a:r>
            <a:r>
              <a:rPr lang="en-US" altLang="pt-BR"/>
              <a:t>da sobre o OAuth 2.0. Enquanto o OAuth 2.0 se concentra na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(o que voc</a:t>
            </a:r>
            <a:r>
              <a:rPr lang="en-US" altLang="en-US"/>
              <a:t>ê</a:t>
            </a:r>
            <a:r>
              <a:rPr lang="en-US" altLang="pt-BR"/>
              <a:t> pode fazer), o OIDC se concentra na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(quem voc</a:t>
            </a:r>
            <a:r>
              <a:rPr lang="en-US" altLang="en-US"/>
              <a:t>ê</a:t>
            </a:r>
            <a:r>
              <a:rPr lang="en-US" altLang="pt-BR"/>
              <a:t> </a:t>
            </a:r>
            <a:r>
              <a:rPr lang="en-US" altLang="en-US"/>
              <a:t>é</a:t>
            </a:r>
            <a:r>
              <a:rPr lang="en-US" altLang="pt-BR"/>
              <a:t>). Ele permite que clientes verifiquem a identidade do usu</a:t>
            </a:r>
            <a:r>
              <a:rPr lang="en-US" altLang="en-US"/>
              <a:t>á</a:t>
            </a:r>
            <a:r>
              <a:rPr lang="en-US" altLang="pt-BR"/>
              <a:t>rio final com base na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realizada por um servidor de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obtenham informa</a:t>
            </a:r>
            <a:r>
              <a:rPr lang="en-US" altLang="en-US"/>
              <a:t>çõ</a:t>
            </a:r>
            <a:r>
              <a:rPr lang="en-US" altLang="pt-BR"/>
              <a:t>es b</a:t>
            </a:r>
            <a:r>
              <a:rPr lang="en-US" altLang="en-US"/>
              <a:t>á</a:t>
            </a:r>
            <a:r>
              <a:rPr lang="en-US" altLang="pt-BR"/>
              <a:t>sicas de perfil sobre o usu</a:t>
            </a:r>
            <a:r>
              <a:rPr lang="en-US" altLang="en-US"/>
              <a:t>á</a:t>
            </a:r>
            <a:r>
              <a:rPr lang="en-US" altLang="pt-BR"/>
              <a:t>rio de forma interoper</a:t>
            </a:r>
            <a:r>
              <a:rPr lang="en-US" altLang="en-US"/>
              <a:t>á</a:t>
            </a:r>
            <a:r>
              <a:rPr lang="en-US" altLang="pt-BR"/>
              <a:t>vel e RESTful. </a:t>
            </a:r>
            <a:r>
              <a:rPr lang="en-US" altLang="en-US"/>
              <a:t>É</a:t>
            </a:r>
            <a:r>
              <a:rPr lang="en-US" altLang="pt-BR"/>
              <a:t> o protocolo por tr</a:t>
            </a:r>
            <a:r>
              <a:rPr lang="en-US" altLang="en-US"/>
              <a:t>á</a:t>
            </a:r>
            <a:r>
              <a:rPr lang="en-US" altLang="pt-BR"/>
              <a:t>s do popular recurso "Entrar com Google/Facebook".</a:t>
            </a:r>
            <a:endParaRPr lang="en-US" altLang="pt-BR"/>
          </a:p>
          <a:p>
            <a:pPr algn="just"/>
            <a:endParaRPr lang="en-US" altLang="pt-BR"/>
          </a:p>
          <a:p>
            <a:pPr algn="just"/>
            <a:r>
              <a:rPr lang="en-US" altLang="pt-BR"/>
              <a:t>Os pap</a:t>
            </a:r>
            <a:r>
              <a:rPr lang="en-US" altLang="en-US"/>
              <a:t>é</a:t>
            </a:r>
            <a:r>
              <a:rPr lang="en-US" altLang="pt-BR"/>
              <a:t>is principais envolvidos em uma troca de autentica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OAuth 2.0 e OpenID Connect s</a:t>
            </a:r>
            <a:r>
              <a:rPr lang="en-US" altLang="en-US"/>
              <a:t>ã</a:t>
            </a:r>
            <a:r>
              <a:rPr lang="en-US" altLang="pt-BR"/>
              <a:t>o:</a:t>
            </a:r>
            <a:endParaRPr lang="en-US" altLang="pt-BR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pt-BR" b="1"/>
              <a:t>Authorization Server (Servidor de Autoriza</a:t>
            </a:r>
            <a:r>
              <a:rPr lang="en-US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o)</a:t>
            </a:r>
            <a:r>
              <a:rPr lang="en-US" altLang="pt-BR"/>
              <a:t>: O provedor de identidade (IdP) que autentica o usu</a:t>
            </a:r>
            <a:r>
              <a:rPr lang="en-US" altLang="en-US"/>
              <a:t>á</a:t>
            </a:r>
            <a:r>
              <a:rPr lang="en-US" altLang="pt-BR"/>
              <a:t>rio e emite tokens (Access Tokens para autoriza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o, ID Tokens para identidade e Refresh Tokens para obter novos tokens). Exemplos incluem Google e Microsoft Entra ID.</a:t>
            </a:r>
            <a:endParaRPr lang="en-US" alt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>
                <a:sym typeface="+mn-ea"/>
              </a:rPr>
              <a:t>2.3. OAuth 2.0 e OpenID Connect (OIDC)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sz="2000" b="1"/>
              <a:t>Client (Cliente)</a:t>
            </a:r>
            <a:r>
              <a:rPr lang="en-US" altLang="pt-BR" sz="2000"/>
              <a:t>: A aplica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que solicita acesso a recursos protegidos em nome do usu</a:t>
            </a:r>
            <a:r>
              <a:rPr lang="en-US" altLang="en-US" sz="2000"/>
              <a:t>á</a:t>
            </a:r>
            <a:r>
              <a:rPr lang="en-US" altLang="pt-BR" sz="2000"/>
              <a:t>rio. Pode ser uma aplica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web tradicional, uma Single Page Application (SPA), um aplicativo mobile, ou at</a:t>
            </a:r>
            <a:r>
              <a:rPr lang="en-US" altLang="en-US" sz="2000"/>
              <a:t>é</a:t>
            </a:r>
            <a:r>
              <a:rPr lang="en-US" altLang="pt-BR" sz="2000"/>
              <a:t> mesmo uma API chamando outra API.</a:t>
            </a:r>
            <a:endParaRPr lang="en-US" altLang="pt-BR" sz="200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sz="2000" b="1"/>
              <a:t>Resource Owner (Propriet</a:t>
            </a:r>
            <a:r>
              <a:rPr lang="en-US" altLang="en-US" sz="2000" b="1"/>
              <a:t>á</a:t>
            </a:r>
            <a:r>
              <a:rPr lang="en-US" altLang="pt-BR" sz="2000" b="1"/>
              <a:t>rio do Recurso)</a:t>
            </a:r>
            <a:r>
              <a:rPr lang="en-US" altLang="pt-BR" sz="2000"/>
              <a:t>: Tipicamente o usu</a:t>
            </a:r>
            <a:r>
              <a:rPr lang="en-US" altLang="en-US" sz="2000"/>
              <a:t>á</a:t>
            </a:r>
            <a:r>
              <a:rPr lang="en-US" altLang="pt-BR" sz="2000"/>
              <a:t>rio final que possui os dados protegidos e concede ou nega permiss</a:t>
            </a:r>
            <a:r>
              <a:rPr lang="en-US" altLang="en-US" sz="2000"/>
              <a:t>ã</a:t>
            </a:r>
            <a:r>
              <a:rPr lang="en-US" altLang="pt-BR" sz="2000"/>
              <a:t>o ao cliente para acess</a:t>
            </a:r>
            <a:r>
              <a:rPr lang="en-US" altLang="en-US" sz="2000"/>
              <a:t>á</a:t>
            </a:r>
            <a:r>
              <a:rPr lang="en-US" altLang="pt-BR" sz="2000"/>
              <a:t>-los.</a:t>
            </a:r>
            <a:endParaRPr lang="en-US" altLang="pt-BR" sz="200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pt-BR" sz="2000" b="1"/>
              <a:t>Resource Server (Servidor de Recursos)</a:t>
            </a:r>
            <a:r>
              <a:rPr lang="en-US" altLang="pt-BR" sz="2000"/>
              <a:t>: O servidor que hospeda os recursos protegidos e aceita Access Tokens emitidos pelo Servidor de Autoriza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para conceder ou negar acesso.</a:t>
            </a:r>
            <a:endParaRPr lang="en-US" altLang="pt-BR" sz="200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pt-BR" sz="2000"/>
          </a:p>
          <a:p>
            <a:pPr algn="just"/>
            <a:r>
              <a:rPr lang="en-US" altLang="pt-BR" sz="2000"/>
              <a:t>O </a:t>
            </a:r>
            <a:r>
              <a:rPr lang="en-US" altLang="pt-BR" sz="2000" b="1"/>
              <a:t>Fluxo de C</a:t>
            </a:r>
            <a:r>
              <a:rPr lang="en-US" altLang="en-US" sz="2000" b="1"/>
              <a:t>ó</a:t>
            </a:r>
            <a:r>
              <a:rPr lang="en-US" altLang="pt-BR" sz="2000" b="1"/>
              <a:t>digo de Autoriza</a:t>
            </a:r>
            <a:r>
              <a:rPr lang="en-US" altLang="en-US" sz="2000" b="1"/>
              <a:t>çã</a:t>
            </a:r>
            <a:r>
              <a:rPr lang="en-US" altLang="pt-BR" sz="2000" b="1"/>
              <a:t>o (Authorization Code Flow)</a:t>
            </a:r>
            <a:r>
              <a:rPr lang="en-US" altLang="pt-BR" sz="2000"/>
              <a:t> </a:t>
            </a:r>
            <a:r>
              <a:rPr lang="en-US" altLang="en-US" sz="2000"/>
              <a:t>é</a:t>
            </a:r>
            <a:r>
              <a:rPr lang="en-US" altLang="pt-BR" sz="2000"/>
              <a:t> o fluxo mais seguro e recomendado para aplica</a:t>
            </a:r>
            <a:r>
              <a:rPr lang="en-US" altLang="en-US" sz="2000"/>
              <a:t>çõ</a:t>
            </a:r>
            <a:r>
              <a:rPr lang="en-US" altLang="pt-BR" sz="2000"/>
              <a:t>es web tradicionais e SPAs. Ele envolve um redirecionamento do usu</a:t>
            </a:r>
            <a:r>
              <a:rPr lang="en-US" altLang="en-US" sz="2000"/>
              <a:t>á</a:t>
            </a:r>
            <a:r>
              <a:rPr lang="en-US" altLang="pt-BR" sz="2000"/>
              <a:t>rio para o servidor de autoriza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o, que autentica o usu</a:t>
            </a:r>
            <a:r>
              <a:rPr lang="en-US" altLang="en-US" sz="2000"/>
              <a:t>á</a:t>
            </a:r>
            <a:r>
              <a:rPr lang="en-US" altLang="pt-BR" sz="2000"/>
              <a:t>rio e, ap</a:t>
            </a:r>
            <a:r>
              <a:rPr lang="en-US" altLang="en-US" sz="2000"/>
              <a:t>ó</a:t>
            </a:r>
            <a:r>
              <a:rPr lang="en-US" altLang="pt-BR" sz="2000"/>
              <a:t>s o consentimento, retorna um c</a:t>
            </a:r>
            <a:r>
              <a:rPr lang="en-US" altLang="en-US" sz="2000"/>
              <a:t>ó</a:t>
            </a:r>
            <a:r>
              <a:rPr lang="en-US" altLang="pt-BR" sz="2000"/>
              <a:t>digo de autoriza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para a aplica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cliente. A aplica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ent</a:t>
            </a:r>
            <a:r>
              <a:rPr lang="en-US" altLang="en-US" sz="2000"/>
              <a:t>ã</a:t>
            </a:r>
            <a:r>
              <a:rPr lang="en-US" altLang="pt-BR" sz="2000"/>
              <a:t>o troca este c</a:t>
            </a:r>
            <a:r>
              <a:rPr lang="en-US" altLang="en-US" sz="2000"/>
              <a:t>ó</a:t>
            </a:r>
            <a:r>
              <a:rPr lang="en-US" altLang="pt-BR" sz="2000"/>
              <a:t>digo por um Access Token (e um ID Token, no caso de OIDC) diretamente com o servidor de autoriza</a:t>
            </a:r>
            <a:r>
              <a:rPr lang="en-US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(via um canal seguro, o back-channel), mantendo o Access Token fora do navegador.</a:t>
            </a:r>
            <a:endParaRPr lang="en-US" altLang="pt-BR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Exemplo pr</a:t>
            </a:r>
            <a:r>
              <a:rPr lang="en-US" altLang="en-US"/>
              <a:t>á</a:t>
            </a:r>
            <a:r>
              <a:rPr lang="en-US" altLang="pt-BR"/>
              <a:t>tico em Node.js para integra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com provedores (e.g., Google Sign-In):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Criar projeto/pasta e abrir VSCode</a:t>
            </a:r>
            <a:r>
              <a:rPr lang="pt-BR" altLang="en-US"/>
              <a:t>: firebaseauth</a:t>
            </a:r>
            <a:endParaRPr lang="pt-BR" altLang="en-US"/>
          </a:p>
          <a:p>
            <a:pPr algn="just"/>
            <a:r>
              <a:rPr lang="pt-BR" altLang="en-US" b="1"/>
              <a:t>Crie os arquivos</a:t>
            </a:r>
            <a:r>
              <a:rPr lang="pt-BR" altLang="en-US"/>
              <a:t>: </a:t>
            </a:r>
            <a:endParaRPr lang="pt-BR" altLang="en-US"/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altLang="en-US"/>
              <a:t>index.html </a:t>
            </a:r>
            <a:endParaRPr lang="pt-BR" altLang="en-US"/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altLang="en-US"/>
              <a:t>style.css </a:t>
            </a:r>
            <a:endParaRPr lang="pt-BR" altLang="en-US"/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altLang="en-US"/>
              <a:t>homepage.html </a:t>
            </a:r>
            <a:endParaRPr lang="pt-BR" altLang="en-US"/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altLang="en-US"/>
              <a:t>script.js </a:t>
            </a:r>
            <a:endParaRPr lang="pt-BR" altLang="en-US"/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altLang="en-US"/>
              <a:t>homepage.js </a:t>
            </a:r>
            <a:endParaRPr lang="pt-BR" altLang="en-US"/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altLang="en-US"/>
              <a:t>firebaseauth.js </a:t>
            </a:r>
            <a:endParaRPr lang="pt-BR" altLang="en-US"/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altLang="en-US"/>
              <a:t>README.md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Exemplo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tico em Node.js para integra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com provedores (e.g., Google Sign-In):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pPr algn="just"/>
            <a:r>
              <a:rPr lang="en-US" altLang="pt-BR"/>
              <a:t>Desenvolvimento e Fun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dos Arquivos JavaScript</a:t>
            </a:r>
            <a:endParaRPr lang="en-US" altLang="pt-BR"/>
          </a:p>
          <a:p>
            <a:pPr algn="just"/>
            <a:r>
              <a:rPr lang="en-US" altLang="pt-BR" b="1"/>
              <a:t>1. firebaseauth.js</a:t>
            </a:r>
            <a:r>
              <a:rPr lang="pt-BR" altLang="en-US"/>
              <a:t>: </a:t>
            </a:r>
            <a:r>
              <a:rPr lang="en-US" altLang="pt-BR"/>
              <a:t>Este arquivo </a:t>
            </a:r>
            <a:r>
              <a:rPr lang="en-US" altLang="en-US"/>
              <a:t>é</a:t>
            </a:r>
            <a:r>
              <a:rPr lang="en-US" altLang="pt-BR"/>
              <a:t> o cora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do sistema de autentica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do seu projeto. Ele lida com o cadastro de novos usu</a:t>
            </a:r>
            <a:r>
              <a:rPr lang="en-US" altLang="en-US"/>
              <a:t>á</a:t>
            </a:r>
            <a:r>
              <a:rPr lang="en-US" altLang="pt-BR"/>
              <a:t>rios e o login de usu</a:t>
            </a:r>
            <a:r>
              <a:rPr lang="en-US" altLang="en-US"/>
              <a:t>á</a:t>
            </a:r>
            <a:r>
              <a:rPr lang="en-US" altLang="pt-BR"/>
              <a:t>rios existentes.</a:t>
            </a:r>
            <a:endParaRPr lang="en-US" altLang="pt-BR"/>
          </a:p>
          <a:p>
            <a:pPr algn="just"/>
            <a:r>
              <a:rPr lang="en-US" altLang="pt-BR" b="1"/>
              <a:t>Fun</a:t>
            </a:r>
            <a:r>
              <a:rPr lang="" altLang="en-US" b="1"/>
              <a:t>çõ</a:t>
            </a:r>
            <a:r>
              <a:rPr lang="en-US" altLang="pt-BR" b="1"/>
              <a:t>es Principais:</a:t>
            </a:r>
            <a:endParaRPr lang="en-US" altLang="pt-BR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/>
              <a:t>Inicializa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do Firebase: Primeiramente, ele inicializa o Firebase com as suas credenciais de projeto (</a:t>
            </a:r>
            <a:r>
              <a:rPr lang="en-US" altLang="pt-BR" b="1"/>
              <a:t>firebaseConfig</a:t>
            </a:r>
            <a:r>
              <a:rPr lang="en-US" altLang="pt-BR"/>
              <a:t>).</a:t>
            </a:r>
            <a:endParaRPr lang="en-US" altLang="pt-BR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/>
              <a:t>Cadastro de Usu</a:t>
            </a:r>
            <a:r>
              <a:rPr lang="en-US" altLang="en-US"/>
              <a:t>á</a:t>
            </a:r>
            <a:r>
              <a:rPr lang="en-US" altLang="pt-BR"/>
              <a:t>rio (</a:t>
            </a:r>
            <a:r>
              <a:rPr lang="en-US" altLang="pt-BR" b="1"/>
              <a:t>submitSignUp</a:t>
            </a:r>
            <a:r>
              <a:rPr lang="en-US" altLang="pt-BR"/>
              <a:t>):</a:t>
            </a:r>
            <a:endParaRPr lang="en-US" altLang="pt-BR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/>
              <a:t>Captura o e-mail, senha, nome e sobrenome do formul</a:t>
            </a:r>
            <a:r>
              <a:rPr lang="en-US" altLang="en-US"/>
              <a:t>á</a:t>
            </a:r>
            <a:r>
              <a:rPr lang="en-US" altLang="pt-BR"/>
              <a:t>rio de cadastro em index.html.</a:t>
            </a:r>
            <a:endParaRPr lang="en-US" altLang="pt-BR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/>
              <a:t>Utiliza a fun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</a:t>
            </a:r>
            <a:r>
              <a:rPr lang="en-US" altLang="pt-BR" i="1"/>
              <a:t>createUserWithEmailAndPassword </a:t>
            </a:r>
            <a:r>
              <a:rPr lang="en-US" altLang="pt-BR"/>
              <a:t>do Firebase Authentication para criar um novo usu</a:t>
            </a:r>
            <a:r>
              <a:rPr lang="en-US" altLang="en-US"/>
              <a:t>á</a:t>
            </a:r>
            <a:r>
              <a:rPr lang="en-US" altLang="pt-BR"/>
              <a:t>rio.</a:t>
            </a:r>
            <a:endParaRPr lang="en-US" altLang="pt-BR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/>
              <a:t>Se o usu</a:t>
            </a:r>
            <a:r>
              <a:rPr lang="en-US" altLang="en-US"/>
              <a:t>á</a:t>
            </a:r>
            <a:r>
              <a:rPr lang="en-US" altLang="pt-BR"/>
              <a:t>rio for criado com sucesso, seus dados (nome, sobrenome e e-mail) s</a:t>
            </a:r>
            <a:r>
              <a:rPr lang="en-US" altLang="en-US"/>
              <a:t>ã</a:t>
            </a:r>
            <a:r>
              <a:rPr lang="en-US" altLang="pt-BR"/>
              <a:t>o salvos no Firestore, um banco de dados NoSQL do Firebase. O ID do usu</a:t>
            </a:r>
            <a:r>
              <a:rPr lang="en-US" altLang="en-US"/>
              <a:t>á</a:t>
            </a:r>
            <a:r>
              <a:rPr lang="en-US" altLang="pt-BR"/>
              <a:t>rio (user.uid) </a:t>
            </a:r>
            <a:r>
              <a:rPr lang="en-US" altLang="en-US"/>
              <a:t>é</a:t>
            </a:r>
            <a:r>
              <a:rPr lang="en-US" altLang="pt-BR"/>
              <a:t> usado como a chave do documento na cole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"users", garantindo que cada usu</a:t>
            </a:r>
            <a:r>
              <a:rPr lang="en-US" altLang="en-US"/>
              <a:t>á</a:t>
            </a:r>
            <a:r>
              <a:rPr lang="en-US" altLang="pt-BR"/>
              <a:t>rio tenha um registro </a:t>
            </a:r>
            <a:r>
              <a:rPr lang="en-US" altLang="en-US"/>
              <a:t>ú</a:t>
            </a:r>
            <a:r>
              <a:rPr lang="en-US" altLang="pt-BR"/>
              <a:t>nico.</a:t>
            </a:r>
            <a:endParaRPr lang="en-US" altLang="pt-BR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/>
              <a:t>Ap</a:t>
            </a:r>
            <a:r>
              <a:rPr lang="en-US" altLang="en-US"/>
              <a:t>ó</a:t>
            </a:r>
            <a:r>
              <a:rPr lang="en-US" altLang="pt-BR"/>
              <a:t>s o cadastro, o usu</a:t>
            </a:r>
            <a:r>
              <a:rPr lang="en-US" altLang="en-US"/>
              <a:t>á</a:t>
            </a:r>
            <a:r>
              <a:rPr lang="en-US" altLang="pt-BR"/>
              <a:t>rio </a:t>
            </a:r>
            <a:r>
              <a:rPr lang="en-US" altLang="en-US"/>
              <a:t>é</a:t>
            </a:r>
            <a:r>
              <a:rPr lang="en-US" altLang="pt-BR"/>
              <a:t> redirecionado para a p</a:t>
            </a:r>
            <a:r>
              <a:rPr lang="en-US" altLang="en-US"/>
              <a:t>á</a:t>
            </a:r>
            <a:r>
              <a:rPr lang="en-US" altLang="pt-BR"/>
              <a:t>gina de login (index.html).</a:t>
            </a:r>
            <a:endParaRPr lang="en-US" altLang="pt-BR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/>
              <a:t>Exibe mensagens de sucesso ou erro, como "Conta criada com sucesso" ou "Endere</a:t>
            </a:r>
            <a:r>
              <a:rPr lang="" altLang="en-US"/>
              <a:t>ç</a:t>
            </a:r>
            <a:r>
              <a:rPr lang="en-US" altLang="pt-BR"/>
              <a:t>o de email j</a:t>
            </a:r>
            <a:r>
              <a:rPr lang="en-US" altLang="en-US"/>
              <a:t>á</a:t>
            </a:r>
            <a:r>
              <a:rPr lang="en-US" altLang="pt-BR"/>
              <a:t> existe".</a:t>
            </a:r>
            <a:endParaRPr lang="en-US" alt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Exemplo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tico em Node.js para integra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com provedores (e.g., Google Sign-In):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2000"/>
              <a:t>Login de Usu</a:t>
            </a:r>
            <a:r>
              <a:rPr lang="en-US" altLang="en-US" sz="2000"/>
              <a:t>á</a:t>
            </a:r>
            <a:r>
              <a:rPr lang="en-US" altLang="pt-BR" sz="2000"/>
              <a:t>rio (</a:t>
            </a:r>
            <a:r>
              <a:rPr lang="en-US" altLang="pt-BR" sz="2000" b="1"/>
              <a:t>submitSignIn</a:t>
            </a:r>
            <a:r>
              <a:rPr lang="en-US" altLang="pt-BR" sz="2000"/>
              <a:t>):</a:t>
            </a:r>
            <a:endParaRPr lang="en-US" altLang="pt-BR" sz="20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800"/>
              <a:t>Captura o e-mail e a senha do formul</a:t>
            </a:r>
            <a:r>
              <a:rPr lang="en-US" altLang="en-US" sz="1800"/>
              <a:t>á</a:t>
            </a:r>
            <a:r>
              <a:rPr lang="en-US" altLang="pt-BR" sz="1800"/>
              <a:t>rio de login em index.html.</a:t>
            </a:r>
            <a:endParaRPr lang="en-US" altLang="pt-BR" sz="1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800"/>
              <a:t>Usa a fun</a:t>
            </a:r>
            <a:r>
              <a:rPr lang="" altLang="en-US" sz="1800"/>
              <a:t>ç</a:t>
            </a:r>
            <a:r>
              <a:rPr lang="en-US" altLang="en-US" sz="1800"/>
              <a:t>ã</a:t>
            </a:r>
            <a:r>
              <a:rPr lang="en-US" altLang="pt-BR" sz="1800"/>
              <a:t>o signInWithEmailAndPassword para autenticar o usu</a:t>
            </a:r>
            <a:r>
              <a:rPr lang="en-US" altLang="en-US" sz="1800"/>
              <a:t>á</a:t>
            </a:r>
            <a:r>
              <a:rPr lang="en-US" altLang="pt-BR" sz="1800"/>
              <a:t>rio.</a:t>
            </a:r>
            <a:endParaRPr lang="en-US" altLang="pt-BR" sz="1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800"/>
              <a:t>Se o login for bem-sucedido, o ID do usu</a:t>
            </a:r>
            <a:r>
              <a:rPr lang="en-US" altLang="en-US" sz="1800"/>
              <a:t>á</a:t>
            </a:r>
            <a:r>
              <a:rPr lang="en-US" altLang="pt-BR" sz="1800"/>
              <a:t>rio (user.uid) </a:t>
            </a:r>
            <a:r>
              <a:rPr lang="en-US" altLang="en-US" sz="1800"/>
              <a:t>é</a:t>
            </a:r>
            <a:r>
              <a:rPr lang="en-US" altLang="pt-BR" sz="1800"/>
              <a:t> salvo no localStorage do navegador. Isso </a:t>
            </a:r>
            <a:r>
              <a:rPr lang="en-US" altLang="en-US" sz="1800"/>
              <a:t>é</a:t>
            </a:r>
            <a:r>
              <a:rPr lang="en-US" altLang="pt-BR" sz="1800"/>
              <a:t> crucial para manter o usu</a:t>
            </a:r>
            <a:r>
              <a:rPr lang="en-US" altLang="en-US" sz="1800"/>
              <a:t>á</a:t>
            </a:r>
            <a:r>
              <a:rPr lang="en-US" altLang="pt-BR" sz="1800"/>
              <a:t>rio conectado entre as p</a:t>
            </a:r>
            <a:r>
              <a:rPr lang="en-US" altLang="en-US" sz="1800"/>
              <a:t>á</a:t>
            </a:r>
            <a:r>
              <a:rPr lang="en-US" altLang="pt-BR" sz="1800"/>
              <a:t>ginas.</a:t>
            </a:r>
            <a:endParaRPr lang="en-US" altLang="pt-BR" sz="1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800"/>
              <a:t>O usu</a:t>
            </a:r>
            <a:r>
              <a:rPr lang="en-US" altLang="en-US" sz="1800"/>
              <a:t>á</a:t>
            </a:r>
            <a:r>
              <a:rPr lang="en-US" altLang="pt-BR" sz="1800"/>
              <a:t>rio </a:t>
            </a:r>
            <a:r>
              <a:rPr lang="en-US" altLang="en-US" sz="1800"/>
              <a:t>é</a:t>
            </a:r>
            <a:r>
              <a:rPr lang="en-US" altLang="pt-BR" sz="1800"/>
              <a:t> ent</a:t>
            </a:r>
            <a:r>
              <a:rPr lang="en-US" altLang="en-US" sz="1800"/>
              <a:t>ã</a:t>
            </a:r>
            <a:r>
              <a:rPr lang="en-US" altLang="pt-BR" sz="1800"/>
              <a:t>o redirecionado para a homepage.html.</a:t>
            </a:r>
            <a:endParaRPr lang="en-US" altLang="pt-BR" sz="1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800"/>
              <a:t>Exibe mensagens de feedback, como "usu</a:t>
            </a:r>
            <a:r>
              <a:rPr lang="en-US" altLang="en-US" sz="1800"/>
              <a:t>á</a:t>
            </a:r>
            <a:r>
              <a:rPr lang="en-US" altLang="pt-BR" sz="1800"/>
              <a:t>rio logado com sucesso" ou "Email ou Senha incorreta"</a:t>
            </a:r>
            <a:r>
              <a:rPr lang="pt-BR" altLang="en-US" sz="1800"/>
              <a:t>.</a:t>
            </a:r>
            <a:endParaRPr lang="en-US" altLang="pt-BR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2000"/>
              <a:t>Integra</a:t>
            </a:r>
            <a:r>
              <a:rPr lang="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com HTML/CSS:</a:t>
            </a:r>
            <a:endParaRPr lang="en-US" altLang="pt-BR" sz="20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index.html</a:t>
            </a:r>
            <a:r>
              <a:rPr lang="en-US" altLang="pt-BR" sz="1800"/>
              <a:t>: O firebaseauth.js </a:t>
            </a:r>
            <a:r>
              <a:rPr lang="en-US" altLang="en-US" sz="1800"/>
              <a:t>é</a:t>
            </a:r>
            <a:r>
              <a:rPr lang="en-US" altLang="pt-BR" sz="1800"/>
              <a:t> importado no index.html atrav</a:t>
            </a:r>
            <a:r>
              <a:rPr lang="en-US" altLang="en-US" sz="1800"/>
              <a:t>é</a:t>
            </a:r>
            <a:r>
              <a:rPr lang="en-US" altLang="pt-BR" sz="1800"/>
              <a:t>s da tag &lt;script type="module" src="firebaseauth.js"&gt;&lt;/script&gt;. Ele manipula os formul</a:t>
            </a:r>
            <a:r>
              <a:rPr lang="en-US" altLang="en-US" sz="1800"/>
              <a:t>á</a:t>
            </a:r>
            <a:r>
              <a:rPr lang="en-US" altLang="pt-BR" sz="1800"/>
              <a:t>rios com os IDs signup e signIn e seus campos de entrada para obter os dados do usu</a:t>
            </a:r>
            <a:r>
              <a:rPr lang="en-US" altLang="en-US" sz="1800"/>
              <a:t>á</a:t>
            </a:r>
            <a:r>
              <a:rPr lang="en-US" altLang="pt-BR" sz="1800"/>
              <a:t>rio. Os bot</a:t>
            </a:r>
            <a:r>
              <a:rPr lang="" altLang="en-US" sz="1800"/>
              <a:t>õ</a:t>
            </a:r>
            <a:r>
              <a:rPr lang="en-US" altLang="pt-BR" sz="1800"/>
              <a:t>es "Criar conta" (submitSignUp) e "Entrar" (submitSignIn) acionam as fun</a:t>
            </a:r>
            <a:r>
              <a:rPr lang="" altLang="en-US" sz="1800"/>
              <a:t>çõ</a:t>
            </a:r>
            <a:r>
              <a:rPr lang="en-US" altLang="pt-BR" sz="1800"/>
              <a:t>es de cadastro e login, respectivamente.</a:t>
            </a:r>
            <a:endParaRPr lang="en-US" altLang="pt-BR" sz="1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1800" b="1"/>
              <a:t>style.css</a:t>
            </a:r>
            <a:r>
              <a:rPr lang="en-US" altLang="pt-BR" sz="1800"/>
              <a:t>: O style.css </a:t>
            </a:r>
            <a:r>
              <a:rPr lang="en-US" altLang="en-US" sz="1800"/>
              <a:t>é</a:t>
            </a:r>
            <a:r>
              <a:rPr lang="en-US" altLang="pt-BR" sz="1800"/>
              <a:t> respons</a:t>
            </a:r>
            <a:r>
              <a:rPr lang="en-US" altLang="en-US" sz="1800"/>
              <a:t>á</a:t>
            </a:r>
            <a:r>
              <a:rPr lang="en-US" altLang="pt-BR" sz="1800"/>
              <a:t>vel pela apar</a:t>
            </a:r>
            <a:r>
              <a:rPr lang="en-US" altLang="en-US" sz="1800"/>
              <a:t>ê</a:t>
            </a:r>
            <a:r>
              <a:rPr lang="en-US" altLang="pt-BR" sz="1800"/>
              <a:t>ncia dos formul</a:t>
            </a:r>
            <a:r>
              <a:rPr lang="en-US" altLang="en-US" sz="1800"/>
              <a:t>á</a:t>
            </a:r>
            <a:r>
              <a:rPr lang="en-US" altLang="pt-BR" sz="1800"/>
              <a:t>rios, campos de entrada, bot</a:t>
            </a:r>
            <a:r>
              <a:rPr lang="" altLang="en-US" sz="1800"/>
              <a:t>õ</a:t>
            </a:r>
            <a:r>
              <a:rPr lang="en-US" altLang="pt-BR" sz="1800"/>
              <a:t>es e mensagens de feedback no index.html, tornando a interface mais amig</a:t>
            </a:r>
            <a:r>
              <a:rPr lang="en-US" altLang="en-US" sz="1800"/>
              <a:t>á</a:t>
            </a:r>
            <a:r>
              <a:rPr lang="en-US" altLang="pt-BR" sz="1800"/>
              <a:t>vel.</a:t>
            </a:r>
            <a:endParaRPr lang="en-US" altLang="pt-BR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Exemplo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tico em Node.js para integra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com provedores (e.g., Google Sign-In):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just"/>
            <a:r>
              <a:rPr lang="en-US" altLang="pt-BR" sz="2400" b="1"/>
              <a:t>2. homepage.js</a:t>
            </a:r>
            <a:r>
              <a:rPr lang="pt-BR" altLang="en-US" sz="2400"/>
              <a:t>: </a:t>
            </a:r>
            <a:r>
              <a:rPr lang="en-US" altLang="pt-BR" sz="2400"/>
              <a:t>Este arquivo gerencia a p</a:t>
            </a:r>
            <a:r>
              <a:rPr lang="en-US" altLang="en-US" sz="2400"/>
              <a:t>á</a:t>
            </a:r>
            <a:r>
              <a:rPr lang="en-US" altLang="pt-BR" sz="2400"/>
              <a:t>gina principal (homepage.html) que o usu</a:t>
            </a:r>
            <a:r>
              <a:rPr lang="en-US" altLang="en-US" sz="2400"/>
              <a:t>á</a:t>
            </a:r>
            <a:r>
              <a:rPr lang="en-US" altLang="pt-BR" sz="2400"/>
              <a:t>rio v</a:t>
            </a:r>
            <a:r>
              <a:rPr lang="en-US" altLang="en-US" sz="2400"/>
              <a:t>ê</a:t>
            </a:r>
            <a:r>
              <a:rPr lang="en-US" altLang="pt-BR" sz="2400"/>
              <a:t> ap</a:t>
            </a:r>
            <a:r>
              <a:rPr lang="en-US" altLang="en-US" sz="2400"/>
              <a:t>ó</a:t>
            </a:r>
            <a:r>
              <a:rPr lang="en-US" altLang="pt-BR" sz="2400"/>
              <a:t>s o login. Sua principal fun</a:t>
            </a:r>
            <a:r>
              <a:rPr lang="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 </a:t>
            </a:r>
            <a:r>
              <a:rPr lang="en-US" altLang="en-US" sz="2400"/>
              <a:t>é</a:t>
            </a:r>
            <a:r>
              <a:rPr lang="en-US" altLang="pt-BR" sz="2400"/>
              <a:t> exibir as informa</a:t>
            </a:r>
            <a:r>
              <a:rPr lang="" altLang="en-US" sz="2400"/>
              <a:t>çõ</a:t>
            </a:r>
            <a:r>
              <a:rPr lang="en-US" altLang="pt-BR" sz="2400"/>
              <a:t>es do usu</a:t>
            </a:r>
            <a:r>
              <a:rPr lang="en-US" altLang="en-US" sz="2400"/>
              <a:t>á</a:t>
            </a:r>
            <a:r>
              <a:rPr lang="en-US" altLang="pt-BR" sz="2400"/>
              <a:t>rio logado e permitir que ele saia do sistema.</a:t>
            </a:r>
            <a:endParaRPr lang="en-US" altLang="pt-BR" sz="2400"/>
          </a:p>
          <a:p>
            <a:pPr algn="just"/>
            <a:r>
              <a:rPr lang="en-US" altLang="pt-BR" sz="2400" b="1"/>
              <a:t>Fun</a:t>
            </a:r>
            <a:r>
              <a:rPr lang="" altLang="en-US" sz="2400" b="1"/>
              <a:t>çõ</a:t>
            </a:r>
            <a:r>
              <a:rPr lang="en-US" altLang="pt-BR" sz="2400" b="1"/>
              <a:t>es Principais:</a:t>
            </a:r>
            <a:endParaRPr lang="en-US" altLang="pt-BR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2400"/>
              <a:t>Monitoramento do Estado de Autentica</a:t>
            </a:r>
            <a:r>
              <a:rPr lang="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 (</a:t>
            </a:r>
            <a:r>
              <a:rPr lang="en-US" altLang="pt-BR" sz="2400" b="1"/>
              <a:t>onAuthStateChanged</a:t>
            </a:r>
            <a:r>
              <a:rPr lang="en-US" altLang="pt-BR" sz="2400"/>
              <a:t>):</a:t>
            </a:r>
            <a:endParaRPr lang="en-US" altLang="pt-BR" sz="24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2000"/>
              <a:t>Esta fun</a:t>
            </a:r>
            <a:r>
              <a:rPr lang="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do Firebase Authentication </a:t>
            </a:r>
            <a:r>
              <a:rPr lang="en-US" altLang="en-US" sz="2000"/>
              <a:t>é</a:t>
            </a:r>
            <a:r>
              <a:rPr lang="en-US" altLang="pt-BR" sz="2000"/>
              <a:t> um "ouvinte" que verifica continuamente se um usu</a:t>
            </a:r>
            <a:r>
              <a:rPr lang="en-US" altLang="en-US" sz="2000"/>
              <a:t>á</a:t>
            </a:r>
            <a:r>
              <a:rPr lang="en-US" altLang="pt-BR" sz="2000"/>
              <a:t>rio est</a:t>
            </a:r>
            <a:r>
              <a:rPr lang="en-US" altLang="en-US" sz="2000"/>
              <a:t>á</a:t>
            </a:r>
            <a:r>
              <a:rPr lang="en-US" altLang="pt-BR" sz="2000"/>
              <a:t> logado.</a:t>
            </a:r>
            <a:endParaRPr lang="en-US" altLang="pt-BR" sz="20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2000"/>
              <a:t>Quando a p</a:t>
            </a:r>
            <a:r>
              <a:rPr lang="en-US" altLang="en-US" sz="2000"/>
              <a:t>á</a:t>
            </a:r>
            <a:r>
              <a:rPr lang="en-US" altLang="pt-BR" sz="2000"/>
              <a:t>gina carrega, ela pega o loggedInUserId que foi salvo no localStorage durante o login.</a:t>
            </a:r>
            <a:endParaRPr lang="en-US" altLang="pt-BR" sz="20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2000"/>
              <a:t>Com o ID do usu</a:t>
            </a:r>
            <a:r>
              <a:rPr lang="en-US" altLang="en-US" sz="2000"/>
              <a:t>á</a:t>
            </a:r>
            <a:r>
              <a:rPr lang="en-US" altLang="pt-BR" sz="2000"/>
              <a:t>rio em m</a:t>
            </a:r>
            <a:r>
              <a:rPr lang="en-US" altLang="en-US" sz="2000"/>
              <a:t>ã</a:t>
            </a:r>
            <a:r>
              <a:rPr lang="en-US" altLang="pt-BR" sz="2000"/>
              <a:t>os, ele busca o documento correspondente na cole</a:t>
            </a:r>
            <a:r>
              <a:rPr lang="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"users" do Firestore usando a fun</a:t>
            </a:r>
            <a:r>
              <a:rPr lang="" altLang="en-US" sz="2000"/>
              <a:t>ç</a:t>
            </a:r>
            <a:r>
              <a:rPr lang="en-US" altLang="en-US" sz="2000"/>
              <a:t>ã</a:t>
            </a:r>
            <a:r>
              <a:rPr lang="en-US" altLang="pt-BR" sz="2000"/>
              <a:t>o getDoc.</a:t>
            </a:r>
            <a:endParaRPr lang="en-US" altLang="pt-BR" sz="20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2000"/>
              <a:t>Se o documento for encontrado, os dados do usu</a:t>
            </a:r>
            <a:r>
              <a:rPr lang="en-US" altLang="en-US" sz="2000"/>
              <a:t>á</a:t>
            </a:r>
            <a:r>
              <a:rPr lang="en-US" altLang="pt-BR" sz="2000"/>
              <a:t>rio (nome, sobrenome e e-mail) s</a:t>
            </a:r>
            <a:r>
              <a:rPr lang="en-US" altLang="en-US" sz="2000"/>
              <a:t>ã</a:t>
            </a:r>
            <a:r>
              <a:rPr lang="en-US" altLang="pt-BR" sz="2000"/>
              <a:t>o exibidos nos elementos HTML correspondentes na homepage.html.</a:t>
            </a:r>
            <a:endParaRPr lang="en-US" altLang="pt-BR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Exemplo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tico em Node.js para integra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com provedores (e.g., Google Sign-In):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2800">
                <a:sym typeface="+mn-ea"/>
              </a:rPr>
              <a:t>Logout (</a:t>
            </a:r>
            <a:r>
              <a:rPr lang="en-US" altLang="pt-BR" sz="2800" b="1">
                <a:sym typeface="+mn-ea"/>
              </a:rPr>
              <a:t>logoutButton</a:t>
            </a:r>
            <a:r>
              <a:rPr lang="en-US" altLang="pt-BR" sz="2800">
                <a:sym typeface="+mn-ea"/>
              </a:rPr>
              <a:t>):</a:t>
            </a:r>
            <a:endParaRPr lang="en-US" altLang="pt-BR" sz="2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2800">
                <a:sym typeface="+mn-ea"/>
              </a:rPr>
              <a:t>Adiciona um evento ao bot</a:t>
            </a:r>
            <a:r>
              <a:rPr lang="en-US" altLang="en-US" sz="2800">
                <a:sym typeface="+mn-ea"/>
              </a:rPr>
              <a:t>ã</a:t>
            </a:r>
            <a:r>
              <a:rPr lang="en-US" altLang="pt-BR" sz="2800">
                <a:sym typeface="+mn-ea"/>
              </a:rPr>
              <a:t>o "Sair" (logout).</a:t>
            </a:r>
            <a:endParaRPr lang="en-US" altLang="pt-BR" sz="2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2800">
                <a:sym typeface="+mn-ea"/>
              </a:rPr>
              <a:t>Quando clicado, ele remove o loggedInUserId do localStorage e chama a fun</a:t>
            </a:r>
            <a:r>
              <a:rPr lang="en-US" altLang="en-US" sz="2800">
                <a:sym typeface="+mn-ea"/>
              </a:rPr>
              <a:t>çã</a:t>
            </a:r>
            <a:r>
              <a:rPr lang="en-US" altLang="pt-BR" sz="2800">
                <a:sym typeface="+mn-ea"/>
              </a:rPr>
              <a:t>o signOut do Firebase para deslogar o usu</a:t>
            </a:r>
            <a:r>
              <a:rPr lang="en-US" altLang="en-US" sz="2800">
                <a:sym typeface="+mn-ea"/>
              </a:rPr>
              <a:t>á</a:t>
            </a:r>
            <a:r>
              <a:rPr lang="en-US" altLang="pt-BR" sz="2800">
                <a:sym typeface="+mn-ea"/>
              </a:rPr>
              <a:t>rio.</a:t>
            </a:r>
            <a:endParaRPr lang="en-US" altLang="pt-BR" sz="280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pt-BR" sz="2800">
                <a:sym typeface="+mn-ea"/>
              </a:rPr>
              <a:t>Finalmente, redireciona o usu</a:t>
            </a:r>
            <a:r>
              <a:rPr lang="en-US" altLang="en-US" sz="2800">
                <a:sym typeface="+mn-ea"/>
              </a:rPr>
              <a:t>á</a:t>
            </a:r>
            <a:r>
              <a:rPr lang="en-US" altLang="pt-BR" sz="2800">
                <a:sym typeface="+mn-ea"/>
              </a:rPr>
              <a:t>rio de volta para a p</a:t>
            </a:r>
            <a:r>
              <a:rPr lang="en-US" altLang="en-US" sz="2800">
                <a:sym typeface="+mn-ea"/>
              </a:rPr>
              <a:t>á</a:t>
            </a:r>
            <a:r>
              <a:rPr lang="en-US" altLang="pt-BR" sz="2800">
                <a:sym typeface="+mn-ea"/>
              </a:rPr>
              <a:t>gina de login (index.html).</a:t>
            </a:r>
            <a:endParaRPr lang="en-US" altLang="pt-BR" sz="2800"/>
          </a:p>
          <a:p>
            <a:endParaRPr lang="en-US" altLang="pt-BR"/>
          </a:p>
          <a:p>
            <a:r>
              <a:rPr lang="en-US" altLang="pt-BR" b="1"/>
              <a:t>Integra</a:t>
            </a:r>
            <a:r>
              <a:rPr lang="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com HTML/CSS:</a:t>
            </a:r>
            <a:endParaRPr lang="en-US" altLang="pt-BR" b="1"/>
          </a:p>
          <a:p>
            <a:r>
              <a:rPr lang="en-US" altLang="pt-BR" b="1"/>
              <a:t>homepage.html</a:t>
            </a:r>
            <a:r>
              <a:rPr lang="en-US" altLang="pt-BR"/>
              <a:t>: O homepage.js </a:t>
            </a:r>
            <a:r>
              <a:rPr lang="en-US" altLang="en-US"/>
              <a:t>é</a:t>
            </a:r>
            <a:r>
              <a:rPr lang="en-US" altLang="pt-BR"/>
              <a:t> importado no homepage.html. Ele preenche os &lt;span&gt; com os IDs loggedUserFName, loggedUserLName, e loggedUserEmail com as informa</a:t>
            </a:r>
            <a:r>
              <a:rPr lang="" altLang="en-US"/>
              <a:t>çõ</a:t>
            </a:r>
            <a:r>
              <a:rPr lang="en-US" altLang="pt-BR"/>
              <a:t>es do usu</a:t>
            </a:r>
            <a:r>
              <a:rPr lang="en-US" altLang="en-US"/>
              <a:t>á</a:t>
            </a:r>
            <a:r>
              <a:rPr lang="en-US" altLang="pt-BR"/>
              <a:t>rio vindas do Firestore. O bot</a:t>
            </a:r>
            <a:r>
              <a:rPr lang="en-US" altLang="en-US"/>
              <a:t>ã</a:t>
            </a:r>
            <a:r>
              <a:rPr lang="en-US" altLang="pt-BR"/>
              <a:t>o com o ID logout </a:t>
            </a:r>
            <a:r>
              <a:rPr lang="en-US" altLang="en-US"/>
              <a:t>é</a:t>
            </a:r>
            <a:r>
              <a:rPr lang="en-US" altLang="pt-BR"/>
              <a:t> usado para acionar a fun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de logout.</a:t>
            </a:r>
            <a:endParaRPr lang="en-US" altLang="pt-BR"/>
          </a:p>
          <a:p>
            <a:r>
              <a:rPr lang="en-US" altLang="pt-BR"/>
              <a:t>O CSS dentro do homepage.html estiliza a p</a:t>
            </a:r>
            <a:r>
              <a:rPr lang="en-US" altLang="en-US"/>
              <a:t>á</a:t>
            </a:r>
            <a:r>
              <a:rPr lang="en-US" altLang="pt-BR"/>
              <a:t>gina de boas-vindas, garantindo que as informa</a:t>
            </a:r>
            <a:r>
              <a:rPr lang="" altLang="en-US"/>
              <a:t>çõ</a:t>
            </a:r>
            <a:r>
              <a:rPr lang="en-US" altLang="pt-BR"/>
              <a:t>es do usu</a:t>
            </a:r>
            <a:r>
              <a:rPr lang="en-US" altLang="en-US"/>
              <a:t>á</a:t>
            </a:r>
            <a:r>
              <a:rPr lang="en-US" altLang="pt-BR"/>
              <a:t>rio sejam apresentadas de forma clara e organizada.</a:t>
            </a:r>
            <a:endParaRPr lang="en-US" alt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Exemplo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tico em Node.js para integra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com provedores (e.g., Google Sign-In):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pt-BR" b="1"/>
              <a:t>3. script.js</a:t>
            </a:r>
            <a:r>
              <a:rPr lang="pt-BR" altLang="en-US"/>
              <a:t>: </a:t>
            </a:r>
            <a:r>
              <a:rPr lang="en-US" altLang="pt-BR"/>
              <a:t>Este </a:t>
            </a:r>
            <a:r>
              <a:rPr lang="en-US" altLang="en-US"/>
              <a:t>é</a:t>
            </a:r>
            <a:r>
              <a:rPr lang="en-US" altLang="pt-BR"/>
              <a:t> um arquivo auxiliar que controla a interface do usu</a:t>
            </a:r>
            <a:r>
              <a:rPr lang="en-US" altLang="en-US"/>
              <a:t>á</a:t>
            </a:r>
            <a:r>
              <a:rPr lang="en-US" altLang="pt-BR"/>
              <a:t>rio na p</a:t>
            </a:r>
            <a:r>
              <a:rPr lang="en-US" altLang="en-US"/>
              <a:t>á</a:t>
            </a:r>
            <a:r>
              <a:rPr lang="en-US" altLang="pt-BR"/>
              <a:t>gina index.html, alternando entre os formul</a:t>
            </a:r>
            <a:r>
              <a:rPr lang="en-US" altLang="en-US"/>
              <a:t>á</a:t>
            </a:r>
            <a:r>
              <a:rPr lang="en-US" altLang="pt-BR"/>
              <a:t>rios de login e cadastro.</a:t>
            </a:r>
            <a:endParaRPr lang="en-US" altLang="pt-BR"/>
          </a:p>
          <a:p>
            <a:r>
              <a:rPr lang="en-US" altLang="pt-BR" b="1"/>
              <a:t>Fun</a:t>
            </a:r>
            <a:r>
              <a:rPr lang="" altLang="en-US" b="1"/>
              <a:t>çõ</a:t>
            </a:r>
            <a:r>
              <a:rPr lang="en-US" altLang="pt-BR" b="1"/>
              <a:t>es Principais: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Ele adiciona eventos de clique aos bot</a:t>
            </a:r>
            <a:r>
              <a:rPr lang="" altLang="en-US"/>
              <a:t>õ</a:t>
            </a:r>
            <a:r>
              <a:rPr lang="en-US" altLang="pt-BR"/>
              <a:t>es "Fazer Login" (signInButton) e "Criar conta" (signUpButton) no index.html.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Quando o bot</a:t>
            </a:r>
            <a:r>
              <a:rPr lang="en-US" altLang="en-US"/>
              <a:t>ã</a:t>
            </a:r>
            <a:r>
              <a:rPr lang="en-US" altLang="pt-BR"/>
              <a:t>o "Criar conta" </a:t>
            </a:r>
            <a:r>
              <a:rPr lang="en-US" altLang="en-US"/>
              <a:t>é</a:t>
            </a:r>
            <a:r>
              <a:rPr lang="en-US" altLang="pt-BR"/>
              <a:t> clicado, ele esconde o formul</a:t>
            </a:r>
            <a:r>
              <a:rPr lang="en-US" altLang="en-US"/>
              <a:t>á</a:t>
            </a:r>
            <a:r>
              <a:rPr lang="en-US" altLang="pt-BR"/>
              <a:t>rio de login (signInForm) e mostra o formul</a:t>
            </a:r>
            <a:r>
              <a:rPr lang="en-US" altLang="en-US"/>
              <a:t>á</a:t>
            </a:r>
            <a:r>
              <a:rPr lang="en-US" altLang="pt-BR"/>
              <a:t>rio de cadastro (signUpForm).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Quando o bot</a:t>
            </a:r>
            <a:r>
              <a:rPr lang="en-US" altLang="en-US"/>
              <a:t>ã</a:t>
            </a:r>
            <a:r>
              <a:rPr lang="en-US" altLang="pt-BR"/>
              <a:t>o "Fazer Login" </a:t>
            </a:r>
            <a:r>
              <a:rPr lang="en-US" altLang="en-US"/>
              <a:t>é</a:t>
            </a:r>
            <a:r>
              <a:rPr lang="en-US" altLang="pt-BR"/>
              <a:t> clicado, ele faz o oposto, mostrando o formul</a:t>
            </a:r>
            <a:r>
              <a:rPr lang="en-US" altLang="en-US"/>
              <a:t>á</a:t>
            </a:r>
            <a:r>
              <a:rPr lang="en-US" altLang="pt-BR"/>
              <a:t>rio de login e escondendo o de cadastro.</a:t>
            </a:r>
            <a:endParaRPr lang="en-US" altLang="pt-BR"/>
          </a:p>
          <a:p>
            <a:endParaRPr lang="en-US" altLang="pt-BR"/>
          </a:p>
          <a:p>
            <a:r>
              <a:rPr lang="en-US" altLang="pt-BR" b="1"/>
              <a:t>Integra</a:t>
            </a:r>
            <a:r>
              <a:rPr lang="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com HTML:</a:t>
            </a:r>
            <a:endParaRPr lang="en-US" altLang="pt-BR" b="1"/>
          </a:p>
          <a:p>
            <a:r>
              <a:rPr lang="en-US" altLang="pt-BR"/>
              <a:t>O script.js </a:t>
            </a:r>
            <a:r>
              <a:rPr lang="en-US" altLang="en-US"/>
              <a:t>é</a:t>
            </a:r>
            <a:r>
              <a:rPr lang="en-US" altLang="pt-BR"/>
              <a:t> importado no final do body do index.html. Ele interage diretamente com os elementos div dos formul</a:t>
            </a:r>
            <a:r>
              <a:rPr lang="en-US" altLang="en-US"/>
              <a:t>á</a:t>
            </a:r>
            <a:r>
              <a:rPr lang="en-US" altLang="pt-BR"/>
              <a:t>rios (signIn e signup) e os bot</a:t>
            </a:r>
            <a:r>
              <a:rPr lang="" altLang="en-US"/>
              <a:t>õ</a:t>
            </a:r>
            <a:r>
              <a:rPr lang="en-US" altLang="pt-BR"/>
              <a:t>es de altern</a:t>
            </a:r>
            <a:r>
              <a:rPr lang="en-US" altLang="en-US"/>
              <a:t>â</a:t>
            </a:r>
            <a:r>
              <a:rPr lang="en-US" altLang="pt-BR"/>
              <a:t>ncia (signInButton e signUpButton) para criar uma experi</a:t>
            </a:r>
            <a:r>
              <a:rPr lang="en-US" altLang="en-US"/>
              <a:t>ê</a:t>
            </a:r>
            <a:r>
              <a:rPr lang="en-US" altLang="pt-BR"/>
              <a:t>ncia de usu</a:t>
            </a:r>
            <a:r>
              <a:rPr lang="en-US" altLang="en-US"/>
              <a:t>á</a:t>
            </a:r>
            <a:r>
              <a:rPr lang="en-US" altLang="pt-BR"/>
              <a:t>rio fluida sem a necessidade de recarregar a p</a:t>
            </a:r>
            <a:r>
              <a:rPr lang="en-US" altLang="en-US"/>
              <a:t>á</a:t>
            </a:r>
            <a:r>
              <a:rPr lang="en-US" altLang="pt-BR"/>
              <a:t>gina.</a:t>
            </a:r>
            <a:endParaRPr lang="en-US" alt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Configura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do Banco de Dados no Console do Firebase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pt-BR"/>
              <a:t>Para que todo o c</a:t>
            </a:r>
            <a:r>
              <a:rPr lang="en-US" altLang="en-US"/>
              <a:t>ó</a:t>
            </a:r>
            <a:r>
              <a:rPr lang="en-US" altLang="pt-BR"/>
              <a:t>digo funcione, </a:t>
            </a:r>
            <a:r>
              <a:rPr lang="pt-BR" altLang="en-US"/>
              <a:t>é necessário</a:t>
            </a:r>
            <a:r>
              <a:rPr lang="en-US" altLang="pt-BR"/>
              <a:t> configurar seu projeto no Firebase. Siga estes passos:</a:t>
            </a:r>
            <a:endParaRPr lang="en-US" altLang="pt-BR"/>
          </a:p>
          <a:p>
            <a:r>
              <a:rPr lang="pt-BR" altLang="en-US" b="1"/>
              <a:t>1.</a:t>
            </a:r>
            <a:r>
              <a:rPr lang="en-US" altLang="pt-BR" b="1"/>
              <a:t>Crie um Projeto no Firebase:</a:t>
            </a:r>
            <a:endParaRPr lang="en-US" altLang="pt-BR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Acesse o Console do Firebase.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Clique em "Adicionar projeto" e siga as instru</a:t>
            </a:r>
            <a:r>
              <a:rPr lang="" altLang="en-US"/>
              <a:t>çõ</a:t>
            </a:r>
            <a:r>
              <a:rPr lang="en-US" altLang="pt-BR"/>
              <a:t>es para criar um novo projeto. D</a:t>
            </a:r>
            <a:r>
              <a:rPr lang="en-US" altLang="en-US"/>
              <a:t>ê</a:t>
            </a:r>
            <a:r>
              <a:rPr lang="en-US" altLang="pt-BR"/>
              <a:t> um nome ao seu projeto.</a:t>
            </a:r>
            <a:endParaRPr lang="en-US" altLang="pt-BR"/>
          </a:p>
          <a:p>
            <a:r>
              <a:rPr lang="pt-BR" altLang="en-US" b="1"/>
              <a:t>2.</a:t>
            </a:r>
            <a:r>
              <a:rPr lang="en-US" altLang="pt-BR" b="1"/>
              <a:t>Adicione o Firebase ao seu Aplicativo Web:</a:t>
            </a:r>
            <a:endParaRPr lang="en-US" altLang="pt-BR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Dentro do seu projeto no Console, clique no </a:t>
            </a:r>
            <a:r>
              <a:rPr lang="en-US" altLang="en-US"/>
              <a:t>í</a:t>
            </a:r>
            <a:r>
              <a:rPr lang="en-US" altLang="pt-BR"/>
              <a:t>cone de engrenagem ao lado de "Vis</a:t>
            </a:r>
            <a:r>
              <a:rPr lang="en-US" altLang="en-US"/>
              <a:t>ã</a:t>
            </a:r>
            <a:r>
              <a:rPr lang="en-US" altLang="pt-BR"/>
              <a:t>o geral do projeto" e v</a:t>
            </a:r>
            <a:r>
              <a:rPr lang="en-US" altLang="en-US"/>
              <a:t>á</a:t>
            </a:r>
            <a:r>
              <a:rPr lang="en-US" altLang="pt-BR"/>
              <a:t> para "Configura</a:t>
            </a:r>
            <a:r>
              <a:rPr lang="" altLang="en-US"/>
              <a:t>çõ</a:t>
            </a:r>
            <a:r>
              <a:rPr lang="en-US" altLang="pt-BR"/>
              <a:t>es do projeto".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Na se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"Seus apps", clique no </a:t>
            </a:r>
            <a:r>
              <a:rPr lang="en-US" altLang="en-US"/>
              <a:t>í</a:t>
            </a:r>
            <a:r>
              <a:rPr lang="en-US" altLang="pt-BR"/>
              <a:t>cone da web (&lt;/&gt;) para registrar um novo aplicativo da web.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D</a:t>
            </a:r>
            <a:r>
              <a:rPr lang="en-US" altLang="en-US"/>
              <a:t>ê</a:t>
            </a:r>
            <a:r>
              <a:rPr lang="en-US" altLang="pt-BR"/>
              <a:t> um apelido ao seu aplicativo e clique em "Registrar app".</a:t>
            </a:r>
            <a:endParaRPr lang="en-US" altLang="pt-B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BR"/>
              <a:t>O Firebase fornecer</a:t>
            </a:r>
            <a:r>
              <a:rPr lang="en-US" altLang="en-US"/>
              <a:t>á</a:t>
            </a:r>
            <a:r>
              <a:rPr lang="en-US" altLang="pt-BR"/>
              <a:t> um objeto de configura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firebaseConfig. Copie este objeto</a:t>
            </a:r>
            <a:r>
              <a:rPr lang="pt-BR" altLang="en-US"/>
              <a:t>.</a:t>
            </a:r>
            <a:endParaRPr lang="pt-B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Configura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do Banco de Dados no Console do Firebase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pt-BR" altLang="en-US" b="1"/>
              <a:t>3.</a:t>
            </a:r>
            <a:r>
              <a:rPr lang="en-US" altLang="pt-BR" b="1"/>
              <a:t>Cole o firebaseConfig nos seus Arquivos JavaScript:</a:t>
            </a:r>
            <a:endParaRPr lang="en-US" altLang="pt-B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Abra os arquivos firebaseauth.js e homepage.js.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Cole o objeto firebaseConfig que voc</a:t>
            </a:r>
            <a:r>
              <a:rPr lang="en-US" altLang="en-US"/>
              <a:t>ê</a:t>
            </a:r>
            <a:r>
              <a:rPr lang="en-US" altLang="pt-BR"/>
              <a:t> copiou nas vari</a:t>
            </a:r>
            <a:r>
              <a:rPr lang="en-US" altLang="en-US"/>
              <a:t>á</a:t>
            </a:r>
            <a:r>
              <a:rPr lang="en-US" altLang="pt-BR"/>
              <a:t>veis firebaseConfig em ambos os arquivos, preenchendo as strings vazias com suas credenciais.</a:t>
            </a:r>
            <a:endParaRPr lang="en-US" altLang="pt-BR"/>
          </a:p>
          <a:p>
            <a:endParaRPr lang="pt-BR" altLang="en-US" b="1"/>
          </a:p>
          <a:p>
            <a:r>
              <a:rPr lang="pt-BR" altLang="en-US" b="1"/>
              <a:t>4.</a:t>
            </a:r>
            <a:r>
              <a:rPr lang="en-US" altLang="pt-BR" b="1"/>
              <a:t>Habilite a Autentica</a:t>
            </a:r>
            <a:r>
              <a:rPr lang="" altLang="en-US" b="1"/>
              <a:t>ç</a:t>
            </a:r>
            <a:r>
              <a:rPr lang="en-US" altLang="en-US" b="1"/>
              <a:t>ã</a:t>
            </a:r>
            <a:r>
              <a:rPr lang="en-US" altLang="pt-BR" b="1"/>
              <a:t>o por E-mail/Senha:</a:t>
            </a:r>
            <a:endParaRPr lang="en-US" altLang="pt-B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No menu lateral do Console do Firebase, v</a:t>
            </a:r>
            <a:r>
              <a:rPr lang="en-US" altLang="en-US"/>
              <a:t>á</a:t>
            </a:r>
            <a:r>
              <a:rPr lang="en-US" altLang="pt-BR"/>
              <a:t> para a se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"Authentication".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Clique na guia "Sign-in method" (M</a:t>
            </a:r>
            <a:r>
              <a:rPr lang="en-US" altLang="en-US"/>
              <a:t>é</a:t>
            </a:r>
            <a:r>
              <a:rPr lang="en-US" altLang="pt-BR"/>
              <a:t>todo de login).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Na lista de provedores, clique em "E-mail/senha" e habilite-o.</a:t>
            </a:r>
            <a:endParaRPr lang="en-US" altLang="pt-B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Configura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do Banco de Dados no Console do Firebase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>
                <a:sym typeface="+mn-ea"/>
              </a:rPr>
              <a:t>5.</a:t>
            </a:r>
            <a:r>
              <a:rPr lang="en-US" altLang="pt-BR" b="1">
                <a:sym typeface="+mn-ea"/>
              </a:rPr>
              <a:t>Crie o Banco de Dados Firestore:</a:t>
            </a:r>
            <a:endParaRPr lang="en-US" altLang="pt-B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No menu lateral, v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 para a se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"Firestore Database".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Clique em "Criar banco de dados".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Escolha iniciar no modo de produ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(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mais seguro) e clique em "Avan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ar".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Selecione um local para o seu banco de dados (recomenda-se o mais pr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ximo dos seus usu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rios).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Clique em "Ativar".</a:t>
            </a:r>
            <a:endParaRPr lang="pt-B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/>
              <a:t>Configura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do Banco de Dados no Console do Firebase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pt-BR" altLang="en-US" b="1"/>
              <a:t>6.</a:t>
            </a:r>
            <a:r>
              <a:rPr lang="en-US" altLang="pt-BR" b="1"/>
              <a:t>Configure as Regras de Seguran</a:t>
            </a:r>
            <a:r>
              <a:rPr lang="" altLang="en-US" b="1"/>
              <a:t>ç</a:t>
            </a:r>
            <a:r>
              <a:rPr lang="en-US" altLang="pt-BR" b="1"/>
              <a:t>a do Firestore (Importante!):</a:t>
            </a:r>
            <a:endParaRPr lang="en-US" altLang="pt-BR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Ainda no Firestore, v</a:t>
            </a:r>
            <a:r>
              <a:rPr lang="en-US" altLang="en-US"/>
              <a:t>á</a:t>
            </a:r>
            <a:r>
              <a:rPr lang="en-US" altLang="pt-BR"/>
              <a:t> para a guia "Regras".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Esta regra garante que um usu</a:t>
            </a:r>
            <a:r>
              <a:rPr lang="en-US" altLang="en-US"/>
              <a:t>á</a:t>
            </a:r>
            <a:r>
              <a:rPr lang="en-US" altLang="pt-BR"/>
              <a:t>rio s</a:t>
            </a:r>
            <a:r>
              <a:rPr lang="en-US" altLang="en-US"/>
              <a:t>ó</a:t>
            </a:r>
            <a:r>
              <a:rPr lang="en-US" altLang="pt-BR"/>
              <a:t> possa ler e escrever em um documento na cole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"users" se o userId do documento for igual ao uid do usu</a:t>
            </a:r>
            <a:r>
              <a:rPr lang="en-US" altLang="en-US"/>
              <a:t>á</a:t>
            </a:r>
            <a:r>
              <a:rPr lang="en-US" altLang="pt-BR"/>
              <a:t>rio autenticado.</a:t>
            </a:r>
            <a:endParaRPr lang="en-US" alt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/>
              <a:t>Por padr</a:t>
            </a:r>
            <a:r>
              <a:rPr lang="en-US" altLang="en-US"/>
              <a:t>ã</a:t>
            </a:r>
            <a:r>
              <a:rPr lang="en-US" altLang="pt-BR"/>
              <a:t>o, o modo de produ</a:t>
            </a:r>
            <a:r>
              <a:rPr lang="" altLang="en-US"/>
              <a:t>ç</a:t>
            </a:r>
            <a:r>
              <a:rPr lang="en-US" altLang="en-US"/>
              <a:t>ã</a:t>
            </a:r>
            <a:r>
              <a:rPr lang="en-US" altLang="pt-BR"/>
              <a:t>o nega todas as leituras e grava</a:t>
            </a:r>
            <a:r>
              <a:rPr lang="" altLang="en-US"/>
              <a:t>çõ</a:t>
            </a:r>
            <a:r>
              <a:rPr lang="en-US" altLang="pt-BR"/>
              <a:t>es. </a:t>
            </a:r>
            <a:r>
              <a:rPr lang="pt-BR" altLang="en-US"/>
              <a:t>É necessário</a:t>
            </a:r>
            <a:r>
              <a:rPr lang="en-US" altLang="pt-BR"/>
              <a:t> permitir que usu</a:t>
            </a:r>
            <a:r>
              <a:rPr lang="en-US" altLang="en-US"/>
              <a:t>á</a:t>
            </a:r>
            <a:r>
              <a:rPr lang="en-US" altLang="pt-BR"/>
              <a:t>rios autenticados leiam e gravem seus pr</a:t>
            </a:r>
            <a:r>
              <a:rPr lang="en-US" altLang="en-US"/>
              <a:t>ó</a:t>
            </a:r>
            <a:r>
              <a:rPr lang="en-US" altLang="pt-BR"/>
              <a:t>prios dados. Substitua as regras padr</a:t>
            </a:r>
            <a:r>
              <a:rPr lang="en-US" altLang="en-US"/>
              <a:t>ã</a:t>
            </a:r>
            <a:r>
              <a:rPr lang="en-US" altLang="pt-BR"/>
              <a:t>o por algo como:</a:t>
            </a:r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pt-BR">
                <a:sym typeface="+mn-ea"/>
              </a:rPr>
              <a:t>Configura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do Banco de Dados no Console do Firebase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928495"/>
            <a:ext cx="10515600" cy="41446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20757</Words>
  <Application>WPS Presentation</Application>
  <PresentationFormat>宽屏</PresentationFormat>
  <Paragraphs>243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Sistemas Web II</vt:lpstr>
      <vt:lpstr>1. Introdução</vt:lpstr>
      <vt:lpstr>1.1. O que é Autenticação?</vt:lpstr>
      <vt:lpstr>1.2. O que é Autorização?</vt:lpstr>
      <vt:lpstr>1.3. Por que são Cruciais para a Segurança Web?</vt:lpstr>
      <vt:lpstr>2. Estratégias de Autenticação: Estabelecendo a Identidade do Usuário</vt:lpstr>
      <vt:lpstr>2.1. Autenticação Baseada em Sessão</vt:lpstr>
      <vt:lpstr>2.1. Autenticação Baseada em Sessão</vt:lpstr>
      <vt:lpstr>2.1. Autenticação Baseada em Sessão</vt:lpstr>
      <vt:lpstr>2.2. Autenticação Baseada em Token (JWT - JSON Web Tokens)</vt:lpstr>
      <vt:lpstr>2.2. Autenticação Baseada em Token (JWT - JSON Web Tokens)</vt:lpstr>
      <vt:lpstr>Exemplo prático em Node.js com jsonwebtoken e Express:</vt:lpstr>
      <vt:lpstr>Exemplo prático em Node.js com jsonwebtoken e Express:</vt:lpstr>
      <vt:lpstr>2.2. Autenticação Baseada em Token (JWT - JSON Web Tokens)</vt:lpstr>
      <vt:lpstr>Exemplo prático em Node.js com jsonwebtoken e Express:</vt:lpstr>
      <vt:lpstr>2.2. Autenticação Baseada em Token (JWT - JSON Web Tokens)</vt:lpstr>
      <vt:lpstr>2.2. Autenticação Baseada em Token (JWT - JSON Web Tokens)</vt:lpstr>
      <vt:lpstr>2.3. OAuth 2.0 e OpenID Connect (OIDC)</vt:lpstr>
      <vt:lpstr>2.3. OAuth 2.0 e OpenID Connect (OIDC)</vt:lpstr>
      <vt:lpstr>2.3. OAuth 2.0 e OpenID Connect (OIDC)</vt:lpstr>
      <vt:lpstr>2.3. OAuth 2.0 e OpenID Connect (OIDC)</vt:lpstr>
      <vt:lpstr>2.3. OAuth 2.0 e OpenID Connect (OIDC)</vt:lpstr>
      <vt:lpstr>Exemplo prático em Node.js para integração com provedores (e.g., Google Sign-In):</vt:lpstr>
      <vt:lpstr>Exemplo prático em Node.js para integração com provedores (e.g., Google Sign-In):</vt:lpstr>
      <vt:lpstr>Exemplo prático em Node.js para integração com provedores (e.g., Google Sign-In):</vt:lpstr>
      <vt:lpstr>PowerPoint 演示文稿</vt:lpstr>
      <vt:lpstr>PowerPoint 演示文稿</vt:lpstr>
      <vt:lpstr>Configuração do Banco de Dados no Console do Firebase</vt:lpstr>
      <vt:lpstr>Configuração do Banco de Dados no Console do Firebase</vt:lpstr>
      <vt:lpstr>Configuração do Banco de Dados no Console do Firebase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</dc:creator>
  <cp:lastModifiedBy>Jacques Simões</cp:lastModifiedBy>
  <cp:revision>11</cp:revision>
  <dcterms:created xsi:type="dcterms:W3CDTF">2025-06-10T03:01:00Z</dcterms:created>
  <dcterms:modified xsi:type="dcterms:W3CDTF">2025-08-05T00:26:37Z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1046-12.2.0.22222</vt:lpwstr>
  </property>
  <property fmtid="{D5CDD505-2E9C-101B-9397-08002B2CF9AE}" pid="3" name="ICV">
    <vt:lpwstr>98603BD1225D40CF9CC08AE279027222_11</vt:lpwstr>
  </property>
</Properties>
</file>